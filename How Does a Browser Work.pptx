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" name="Google Shape;70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facfe77fe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3facfe77fe1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g3facfe77fe1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solidFill>
          <a:srgbClr val="0D1117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">
  <p:cSld name="LIGHT">
    <p:bg>
      <p:bgPr>
        <a:solidFill>
          <a:srgbClr val="F5F7F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/>
          <p:nvPr/>
        </p:nvSpPr>
        <p:spPr>
          <a:xfrm>
            <a:off x="1965960" y="2331720"/>
            <a:ext cx="8229600" cy="777240"/>
          </a:xfrm>
          <a:prstGeom prst="roundRect">
            <a:avLst>
              <a:gd fmla="val 49412" name="adj"/>
            </a:avLst>
          </a:prstGeom>
          <a:solidFill>
            <a:srgbClr val="1C2530"/>
          </a:solidFill>
          <a:ln cap="flat" cmpd="sng" w="15875">
            <a:solidFill>
              <a:srgbClr val="2A3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5"/>
          <p:cNvSpPr/>
          <p:nvPr/>
        </p:nvSpPr>
        <p:spPr>
          <a:xfrm>
            <a:off x="2167128" y="2514600"/>
            <a:ext cx="411480" cy="411480"/>
          </a:xfrm>
          <a:prstGeom prst="ellipse">
            <a:avLst/>
          </a:prstGeom>
          <a:solidFill>
            <a:srgbClr val="2A34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5"/>
          <p:cNvSpPr/>
          <p:nvPr/>
        </p:nvSpPr>
        <p:spPr>
          <a:xfrm>
            <a:off x="2167128" y="25146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⟳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5"/>
          <p:cNvSpPr/>
          <p:nvPr/>
        </p:nvSpPr>
        <p:spPr>
          <a:xfrm>
            <a:off x="2743200" y="2331720"/>
            <a:ext cx="1005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8A94A3"/>
                </a:solidFill>
                <a:latin typeface="Courier New"/>
                <a:ea typeface="Courier New"/>
                <a:cs typeface="Courier New"/>
                <a:sym typeface="Courier New"/>
              </a:rPr>
              <a:t>https://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5"/>
          <p:cNvSpPr/>
          <p:nvPr/>
        </p:nvSpPr>
        <p:spPr>
          <a:xfrm>
            <a:off x="3657600" y="233172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www.example.com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5"/>
          <p:cNvSpPr/>
          <p:nvPr/>
        </p:nvSpPr>
        <p:spPr>
          <a:xfrm>
            <a:off x="5394960" y="2532888"/>
            <a:ext cx="18288" cy="384048"/>
          </a:xfrm>
          <a:prstGeom prst="rect">
            <a:avLst/>
          </a:prstGeom>
          <a:solidFill>
            <a:srgbClr val="3DA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731520" y="3566160"/>
            <a:ext cx="10698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HOW DOES A BROWSER WORK?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1371600" y="4526280"/>
            <a:ext cx="9418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From typing a URL to seeing the final page — a step-by-step journey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6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What We'll Walk Through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6"/>
          <p:cNvSpPr/>
          <p:nvPr/>
        </p:nvSpPr>
        <p:spPr>
          <a:xfrm>
            <a:off x="548640" y="2286000"/>
            <a:ext cx="1439527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587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/>
          <p:nvPr/>
        </p:nvSpPr>
        <p:spPr>
          <a:xfrm>
            <a:off x="548640" y="2286000"/>
            <a:ext cx="1439527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URL Click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1988167" y="2267712"/>
            <a:ext cx="164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2152759" y="2286000"/>
            <a:ext cx="1439527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587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2152759" y="2286000"/>
            <a:ext cx="1439527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Cache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3592286" y="2267712"/>
            <a:ext cx="164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3756878" y="2286000"/>
            <a:ext cx="1439527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587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/>
          <p:nvPr/>
        </p:nvSpPr>
        <p:spPr>
          <a:xfrm>
            <a:off x="3756878" y="2286000"/>
            <a:ext cx="1439527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DNS Flow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5196405" y="2267712"/>
            <a:ext cx="164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5360997" y="2286000"/>
            <a:ext cx="1439527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587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5360997" y="2286000"/>
            <a:ext cx="1439527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Parsing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6800523" y="2267712"/>
            <a:ext cx="164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6965115" y="2286000"/>
            <a:ext cx="1439527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587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6965115" y="2286000"/>
            <a:ext cx="1439527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Rendering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8404642" y="2267712"/>
            <a:ext cx="164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8569234" y="2286000"/>
            <a:ext cx="1439527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587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8569234" y="2286000"/>
            <a:ext cx="1439527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Layout &amp;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Painting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10008761" y="2267712"/>
            <a:ext cx="164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0173353" y="2286000"/>
            <a:ext cx="1439527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587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10173353" y="2286000"/>
            <a:ext cx="1439527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Composition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548640" y="3931920"/>
            <a:ext cx="11064240" cy="1737360"/>
          </a:xfrm>
          <a:prstGeom prst="roundRect">
            <a:avLst>
              <a:gd fmla="val 421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914400" y="4160520"/>
            <a:ext cx="10332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We'll follow a single web request from the moment you press Enter to the moment pixels appear on your screen </a:t>
            </a:r>
            <a:r>
              <a:rPr b="0" i="0" lang="en-US" sz="17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— covering both the network journey (DNS) and the browser's internal rendering pipeline.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2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CORE CONCEPTS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Key Facts Before We Start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"/>
          <p:cNvSpPr/>
          <p:nvPr/>
        </p:nvSpPr>
        <p:spPr>
          <a:xfrm>
            <a:off x="868680" y="16916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FC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6FC9"/>
                </a:solidFill>
                <a:latin typeface="Calibri"/>
                <a:ea typeface="Calibri"/>
                <a:cs typeface="Calibri"/>
                <a:sym typeface="Calibri"/>
              </a:rPr>
              <a:t>The browser's core job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868680" y="199339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Request a resource through a URL sent to a server, then display that resource on screen. Usually HTML — but could be an image, PDF, or other file type.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548640" y="27889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HIGH-LEVEL ARCHITECTURE — 7 BUILDING BLOCKS OF EVERY BROWSER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548640" y="3154680"/>
            <a:ext cx="2688336" cy="1170432"/>
          </a:xfrm>
          <a:prstGeom prst="roundRect">
            <a:avLst>
              <a:gd fmla="val 5469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676656" y="3246120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User Interface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676656" y="3538728"/>
            <a:ext cx="2432304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Address bar, back/forward, bookmarks, tabs — everything but the page content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3364992" y="3154680"/>
            <a:ext cx="2688336" cy="1170432"/>
          </a:xfrm>
          <a:prstGeom prst="roundRect">
            <a:avLst>
              <a:gd fmla="val 5469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3493008" y="3246120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Browser Engine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3493008" y="3538728"/>
            <a:ext cx="2432304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Middleman coordinating the UI and the rendering engine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6181344" y="3154680"/>
            <a:ext cx="2688336" cy="1170432"/>
          </a:xfrm>
          <a:prstGeom prst="roundRect">
            <a:avLst>
              <a:gd fmla="val 5469" name="adj"/>
            </a:avLst>
          </a:prstGeom>
          <a:solidFill>
            <a:srgbClr val="3DA9FC"/>
          </a:solidFill>
          <a:ln cap="flat" cmpd="sng" w="12700">
            <a:solidFill>
              <a:srgbClr val="3DA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6309360" y="3246120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Rendering Engine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6309360" y="3538728"/>
            <a:ext cx="2432304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F7F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5F7FA"/>
                </a:solidFill>
                <a:latin typeface="Calibri"/>
                <a:ea typeface="Calibri"/>
                <a:cs typeface="Calibri"/>
                <a:sym typeface="Calibri"/>
              </a:rPr>
              <a:t>Turns HTML &amp; CSS into the visual page you see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8997696" y="3154680"/>
            <a:ext cx="2688336" cy="1170432"/>
          </a:xfrm>
          <a:prstGeom prst="roundRect">
            <a:avLst>
              <a:gd fmla="val 5469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9125712" y="3246120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Networking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9125712" y="3538728"/>
            <a:ext cx="2432304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Handles all HTTP/HTTPS requests &amp; responses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548640" y="4453128"/>
            <a:ext cx="2688336" cy="1170432"/>
          </a:xfrm>
          <a:prstGeom prst="roundRect">
            <a:avLst>
              <a:gd fmla="val 5469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676656" y="4544568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JavaScript Engine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676656" y="4837176"/>
            <a:ext cx="2432304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Parses &amp; executes JS (e.g. V8, JavaScriptCore)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3364992" y="4453128"/>
            <a:ext cx="2688336" cy="1170432"/>
          </a:xfrm>
          <a:prstGeom prst="roundRect">
            <a:avLst>
              <a:gd fmla="val 5469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3493008" y="4544568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UI Backend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3493008" y="4837176"/>
            <a:ext cx="2432304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Draws native buttons, windows, scrollbars via the 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6181344" y="4453128"/>
            <a:ext cx="2688336" cy="1170432"/>
          </a:xfrm>
          <a:prstGeom prst="roundRect">
            <a:avLst>
              <a:gd fmla="val 5469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6309360" y="4544568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Data Storage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6309360" y="4837176"/>
            <a:ext cx="2432304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Cookies, localStorage, IndexedDB, and more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3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MARKET 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Which Browsers Are We Talking About?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00200"/>
            <a:ext cx="5943600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8"/>
          <p:cNvSpPr/>
          <p:nvPr/>
        </p:nvSpPr>
        <p:spPr>
          <a:xfrm>
            <a:off x="6766560" y="1600200"/>
            <a:ext cx="4846320" cy="3291840"/>
          </a:xfrm>
          <a:prstGeom prst="roundRect">
            <a:avLst>
              <a:gd fmla="val 2222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7086600" y="17830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The consolidation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7086600" y="2148840"/>
            <a:ext cx="42062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Internet Explorer — </a:t>
            </a:r>
            <a:r>
              <a:rPr b="0" i="0" lang="en-US" sz="12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is completely gone — retired by Microsoft in 2022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Edge — </a:t>
            </a:r>
            <a:r>
              <a:rPr b="0" i="0" lang="en-US" sz="12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is now rebuilt on Chromium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Opera — </a:t>
            </a:r>
            <a:r>
              <a:rPr b="0" i="0" lang="en-US" sz="12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abandoned its own engine years ago, switched to Chromium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7086600" y="3977640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The result: nearly the entire web runs on just two rendering engines.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4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 txBox="1"/>
          <p:nvPr/>
        </p:nvSpPr>
        <p:spPr>
          <a:xfrm>
            <a:off x="931600" y="4892050"/>
            <a:ext cx="4206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google - 1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safari - 2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edge - 3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others - 4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RENDERING ENGINES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Two Engines Power (Almost) the Entire Web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1463040" y="1691640"/>
            <a:ext cx="2377440" cy="640080"/>
          </a:xfrm>
          <a:prstGeom prst="roundRect">
            <a:avLst>
              <a:gd fmla="val 8571" name="adj"/>
            </a:avLst>
          </a:prstGeom>
          <a:solidFill>
            <a:srgbClr val="1B2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"/>
          <p:cNvSpPr/>
          <p:nvPr/>
        </p:nvSpPr>
        <p:spPr>
          <a:xfrm>
            <a:off x="1463040" y="169164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WebKit (2001)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9"/>
          <p:cNvCxnSpPr/>
          <p:nvPr/>
        </p:nvCxnSpPr>
        <p:spPr>
          <a:xfrm>
            <a:off x="2651760" y="2331720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8A94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9"/>
          <p:cNvSpPr/>
          <p:nvPr/>
        </p:nvSpPr>
        <p:spPr>
          <a:xfrm>
            <a:off x="1737360" y="26517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forks in 2013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822960" y="2880360"/>
            <a:ext cx="2011680" cy="548640"/>
          </a:xfrm>
          <a:prstGeom prst="roundRect">
            <a:avLst>
              <a:gd fmla="val 10000" name="adj"/>
            </a:avLst>
          </a:prstGeom>
          <a:solidFill>
            <a:srgbClr val="3DA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"/>
          <p:cNvSpPr/>
          <p:nvPr/>
        </p:nvSpPr>
        <p:spPr>
          <a:xfrm>
            <a:off x="822960" y="288036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Blink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3566160" y="2880360"/>
            <a:ext cx="2011680" cy="548640"/>
          </a:xfrm>
          <a:prstGeom prst="roundRect">
            <a:avLst>
              <a:gd fmla="val 10000" name="adj"/>
            </a:avLst>
          </a:prstGeom>
          <a:solidFill>
            <a:srgbClr val="8A94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3566160" y="288036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WebKit (Apple)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548640" y="3749040"/>
            <a:ext cx="5349240" cy="210312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822960" y="393192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Blink (Chromium)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822960" y="4343400"/>
            <a:ext cx="4800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Forked from WebKit by Google in 2013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Powers Chrome, Edge, Opera, Brave, Vivaldi, Samsung Internet, and most non-Apple browsers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6080760" y="3749040"/>
            <a:ext cx="5349240" cy="210312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6355080" y="393192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WebKit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6355080" y="4343400"/>
            <a:ext cx="4800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Apple's own rendering engine, powers Safari on macOS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Apple policy: every browser on iPhone/iPad — even ones branded “Chrome” — must use WebKit on 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5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9"/>
          <p:cNvCxnSpPr>
            <a:stCxn id="111" idx="2"/>
            <a:endCxn id="117" idx="0"/>
          </p:cNvCxnSpPr>
          <p:nvPr/>
        </p:nvCxnSpPr>
        <p:spPr>
          <a:xfrm>
            <a:off x="2651760" y="2331720"/>
            <a:ext cx="1920300" cy="548700"/>
          </a:xfrm>
          <a:prstGeom prst="straightConnector1">
            <a:avLst/>
          </a:prstGeom>
          <a:noFill/>
          <a:ln cap="flat" cmpd="sng" w="19050">
            <a:solidFill>
              <a:srgbClr val="8A94A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UNDER THE HOOD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Every Process Gets Its Own Resources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In 2011, “one process per tab” was Chrome's big new idea. Today it's far more granular and security-driven — called Site Isolation.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548640" y="2057400"/>
            <a:ext cx="557784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Main + renderer processes — </a:t>
            </a:r>
            <a:r>
              <a:rPr b="0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Chrome runs one browser process plus multiple sandboxed renderer processes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Since 2018 — </a:t>
            </a:r>
            <a:r>
              <a:rPr b="0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(after Spectre/Meltdown), each site gets its own dedicated process — not just each tab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Embedded iframes — </a:t>
            </a:r>
            <a:r>
              <a:rPr b="0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from a different site (e.g. a map or ad) load in their own separate process, invisible to the user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One tab, many processes — </a:t>
            </a:r>
            <a:r>
              <a:rPr b="0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A single browser tab can be made up of several processes working together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Why it matters — </a:t>
            </a:r>
            <a:r>
              <a:rPr b="0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if one process is compromised or crashes, it can't read another site's data or crash the rest of the browser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6583680" y="2148840"/>
            <a:ext cx="5029200" cy="594360"/>
          </a:xfrm>
          <a:prstGeom prst="roundRect">
            <a:avLst>
              <a:gd fmla="val 10769" name="adj"/>
            </a:avLst>
          </a:prstGeom>
          <a:solidFill>
            <a:srgbClr val="1B2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"/>
          <p:cNvSpPr/>
          <p:nvPr/>
        </p:nvSpPr>
        <p:spPr>
          <a:xfrm>
            <a:off x="6583680" y="214884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Browser Process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0"/>
          <p:cNvCxnSpPr/>
          <p:nvPr/>
        </p:nvCxnSpPr>
        <p:spPr>
          <a:xfrm flipH="1">
            <a:off x="7040880" y="2880360"/>
            <a:ext cx="822960" cy="502920"/>
          </a:xfrm>
          <a:prstGeom prst="straightConnector1">
            <a:avLst/>
          </a:prstGeom>
          <a:noFill/>
          <a:ln cap="flat" cmpd="sng" w="15875">
            <a:solidFill>
              <a:srgbClr val="8A94A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10"/>
          <p:cNvCxnSpPr/>
          <p:nvPr/>
        </p:nvCxnSpPr>
        <p:spPr>
          <a:xfrm>
            <a:off x="10332720" y="2880360"/>
            <a:ext cx="822960" cy="502920"/>
          </a:xfrm>
          <a:prstGeom prst="straightConnector1">
            <a:avLst/>
          </a:prstGeom>
          <a:noFill/>
          <a:ln cap="flat" cmpd="sng" w="15875">
            <a:solidFill>
              <a:srgbClr val="8A94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10"/>
          <p:cNvSpPr/>
          <p:nvPr/>
        </p:nvSpPr>
        <p:spPr>
          <a:xfrm>
            <a:off x="6583680" y="3383280"/>
            <a:ext cx="5029200" cy="2286000"/>
          </a:xfrm>
          <a:prstGeom prst="roundRect">
            <a:avLst>
              <a:gd fmla="val 320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"/>
          <p:cNvSpPr/>
          <p:nvPr/>
        </p:nvSpPr>
        <p:spPr>
          <a:xfrm>
            <a:off x="6812280" y="35204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One Browser Tab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6858000" y="3886200"/>
            <a:ext cx="4480560" cy="1554480"/>
          </a:xfrm>
          <a:prstGeom prst="roundRect">
            <a:avLst>
              <a:gd fmla="val 3529" name="adj"/>
            </a:avLst>
          </a:prstGeom>
          <a:solidFill>
            <a:srgbClr val="223049"/>
          </a:solidFill>
          <a:ln cap="flat" cmpd="sng" w="19050">
            <a:solidFill>
              <a:srgbClr val="3DA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7040880" y="40233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Main Page — Process 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7223760" y="4434840"/>
            <a:ext cx="3749040" cy="822960"/>
          </a:xfrm>
          <a:prstGeom prst="roundRect">
            <a:avLst>
              <a:gd fmla="val 6667" name="adj"/>
            </a:avLst>
          </a:prstGeom>
          <a:solidFill>
            <a:srgbClr val="2E1F1F"/>
          </a:solidFill>
          <a:ln cap="flat" cmpd="sng" w="1905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7406640" y="455371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Embedded iframe — Process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7406640" y="482803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(e.g. an embedded map or ad)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6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CHECKPOINT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Complete Journey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548640" y="2743200"/>
            <a:ext cx="1439527" cy="1097280"/>
          </a:xfrm>
          <a:prstGeom prst="roundRect">
            <a:avLst>
              <a:gd fmla="val 6667" name="adj"/>
            </a:avLst>
          </a:prstGeom>
          <a:solidFill>
            <a:srgbClr val="1C2530"/>
          </a:solidFill>
          <a:ln cap="flat" cmpd="sng" w="15875">
            <a:solidFill>
              <a:srgbClr val="2A3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548640" y="2743200"/>
            <a:ext cx="1439527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URL Click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1988167" y="2724912"/>
            <a:ext cx="16459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2152759" y="2743200"/>
            <a:ext cx="1439527" cy="1097280"/>
          </a:xfrm>
          <a:prstGeom prst="roundRect">
            <a:avLst>
              <a:gd fmla="val 6667" name="adj"/>
            </a:avLst>
          </a:prstGeom>
          <a:solidFill>
            <a:srgbClr val="1C2530"/>
          </a:solidFill>
          <a:ln cap="flat" cmpd="sng" w="15875">
            <a:solidFill>
              <a:srgbClr val="2A3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"/>
          <p:cNvSpPr/>
          <p:nvPr/>
        </p:nvSpPr>
        <p:spPr>
          <a:xfrm>
            <a:off x="2152759" y="2743200"/>
            <a:ext cx="1439527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Cache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3592286" y="2724912"/>
            <a:ext cx="16459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3756878" y="2743200"/>
            <a:ext cx="1439527" cy="1097280"/>
          </a:xfrm>
          <a:prstGeom prst="roundRect">
            <a:avLst>
              <a:gd fmla="val 6667" name="adj"/>
            </a:avLst>
          </a:prstGeom>
          <a:solidFill>
            <a:srgbClr val="1C2530"/>
          </a:solidFill>
          <a:ln cap="flat" cmpd="sng" w="15875">
            <a:solidFill>
              <a:srgbClr val="2A3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"/>
          <p:cNvSpPr/>
          <p:nvPr/>
        </p:nvSpPr>
        <p:spPr>
          <a:xfrm>
            <a:off x="3756878" y="2743200"/>
            <a:ext cx="1439527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DNS Flow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5196405" y="2724912"/>
            <a:ext cx="16459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5360997" y="2743200"/>
            <a:ext cx="1439527" cy="1097280"/>
          </a:xfrm>
          <a:prstGeom prst="roundRect">
            <a:avLst>
              <a:gd fmla="val 6667" name="adj"/>
            </a:avLst>
          </a:prstGeom>
          <a:solidFill>
            <a:srgbClr val="1C2530"/>
          </a:solidFill>
          <a:ln cap="flat" cmpd="sng" w="15875">
            <a:solidFill>
              <a:srgbClr val="2A3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"/>
          <p:cNvSpPr/>
          <p:nvPr/>
        </p:nvSpPr>
        <p:spPr>
          <a:xfrm>
            <a:off x="5360997" y="2743200"/>
            <a:ext cx="1439527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Parsing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6800523" y="2724912"/>
            <a:ext cx="16459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6965115" y="2743200"/>
            <a:ext cx="1439527" cy="1097280"/>
          </a:xfrm>
          <a:prstGeom prst="roundRect">
            <a:avLst>
              <a:gd fmla="val 6667" name="adj"/>
            </a:avLst>
          </a:prstGeom>
          <a:solidFill>
            <a:srgbClr val="1C2530"/>
          </a:solidFill>
          <a:ln cap="flat" cmpd="sng" w="15875">
            <a:solidFill>
              <a:srgbClr val="2A3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6965115" y="2743200"/>
            <a:ext cx="1439527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Rendering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8404642" y="2724912"/>
            <a:ext cx="16459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8569234" y="2743200"/>
            <a:ext cx="1439527" cy="1097280"/>
          </a:xfrm>
          <a:prstGeom prst="roundRect">
            <a:avLst>
              <a:gd fmla="val 6667" name="adj"/>
            </a:avLst>
          </a:prstGeom>
          <a:solidFill>
            <a:srgbClr val="1C2530"/>
          </a:solidFill>
          <a:ln cap="flat" cmpd="sng" w="15875">
            <a:solidFill>
              <a:srgbClr val="2A3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8569234" y="2743200"/>
            <a:ext cx="1439527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Layout &amp;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Painting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10008761" y="2724912"/>
            <a:ext cx="16459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10173353" y="2743200"/>
            <a:ext cx="1439527" cy="1097280"/>
          </a:xfrm>
          <a:prstGeom prst="roundRect">
            <a:avLst>
              <a:gd fmla="val 6667" name="adj"/>
            </a:avLst>
          </a:prstGeom>
          <a:solidFill>
            <a:srgbClr val="1C2530"/>
          </a:solidFill>
          <a:ln cap="flat" cmpd="sng" w="15875">
            <a:solidFill>
              <a:srgbClr val="2A3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10173353" y="2743200"/>
            <a:ext cx="1439527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Composition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1371600" y="4572000"/>
            <a:ext cx="9418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Now let's go through each of these stages in detail, starting with what happens the instant you press Enter.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7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You Enter, We Find the Address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548640" y="1737360"/>
            <a:ext cx="914400" cy="914400"/>
          </a:xfrm>
          <a:prstGeom prst="ellipse">
            <a:avLst/>
          </a:prstGeom>
          <a:solidFill>
            <a:srgbClr val="3DA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2"/>
          <p:cNvSpPr/>
          <p:nvPr/>
        </p:nvSpPr>
        <p:spPr>
          <a:xfrm>
            <a:off x="548640" y="173736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1828800" y="1691640"/>
            <a:ext cx="9509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The very first thing that has to happen before a browser can show you anything is figuring out </a:t>
            </a:r>
            <a:r>
              <a:rPr b="0" i="1" lang="en-US" sz="16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b="0" i="0" lang="en-US" sz="16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 to actually send the request.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548640" y="2834640"/>
            <a:ext cx="11064240" cy="1828800"/>
          </a:xfrm>
          <a:prstGeom prst="roundRect">
            <a:avLst>
              <a:gd fmla="val 400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"/>
          <p:cNvSpPr/>
          <p:nvPr/>
        </p:nvSpPr>
        <p:spPr>
          <a:xfrm>
            <a:off x="914400" y="3063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Every website has a human-friendly name (like </a:t>
            </a:r>
            <a:r>
              <a:rPr b="0" i="0" lang="en-US" sz="1500" u="none" cap="none" strike="noStrike">
                <a:solidFill>
                  <a:srgbClr val="3DA9FC"/>
                </a:solidFill>
                <a:latin typeface="Courier New"/>
                <a:ea typeface="Courier New"/>
                <a:cs typeface="Courier New"/>
                <a:sym typeface="Courier New"/>
              </a:rPr>
              <a:t>zoho.procurement.com</a:t>
            </a:r>
            <a:r>
              <a:rPr b="0" i="0" lang="en-US" sz="15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), but computers communicate using numeric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 addresses</a:t>
            </a:r>
            <a:r>
              <a:rPr b="0" i="0" lang="en-US" sz="15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. This first phase is entirely about translating that friendly name into an IP address — a process called </a:t>
            </a:r>
            <a:r>
              <a:rPr b="1" i="0" lang="en-US" sz="15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DNS resolution</a:t>
            </a:r>
            <a:r>
              <a:rPr b="0" i="0" lang="en-US" sz="15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 (Domain Name System).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8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WORKED EXAMPLE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Let's Follow a Real Example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548640" y="1828800"/>
            <a:ext cx="11064240" cy="265176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22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"/>
          <p:cNvSpPr/>
          <p:nvPr/>
        </p:nvSpPr>
        <p:spPr>
          <a:xfrm>
            <a:off x="914400" y="2148840"/>
            <a:ext cx="5760720" cy="685800"/>
          </a:xfrm>
          <a:prstGeom prst="roundRect">
            <a:avLst>
              <a:gd fmla="val 46667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3"/>
          <p:cNvSpPr/>
          <p:nvPr/>
        </p:nvSpPr>
        <p:spPr>
          <a:xfrm>
            <a:off x="914400" y="2148840"/>
            <a:ext cx="5760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3DA9FC"/>
                </a:solidFill>
                <a:latin typeface="Courier New"/>
                <a:ea typeface="Courier New"/>
                <a:cs typeface="Courier New"/>
                <a:sym typeface="Courier New"/>
              </a:rPr>
              <a:t>zoho.procurement.com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914400" y="3017520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Let's say you open your browser and type this into the address bar — and let's assume you've </a:t>
            </a:r>
            <a:r>
              <a:rPr b="1" i="0" lang="en-US" sz="14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never visited this site before</a:t>
            </a:r>
            <a:r>
              <a:rPr b="0" i="0" lang="en-US" sz="14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 on this device.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914400" y="3703320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This means nothing about it is cached yet, so we'll see the entire DNS lookup process from scratch, step by step, exactly as it happens in the real world.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9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DNS STEP 1 OF 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First Stop: Your Own Cache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548640" y="1737360"/>
            <a:ext cx="61264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Stub resolver — </a:t>
            </a:r>
            <a:r>
              <a:rPr b="0" i="0" lang="en-US" sz="15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a small piece of OS software checks its local cache first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If recently visited — </a:t>
            </a:r>
            <a:r>
              <a:rPr b="0" i="0" lang="en-US" sz="15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the IP might already be stored locally — instant, no network trip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In our example — </a:t>
            </a:r>
            <a:r>
              <a:rPr b="0" i="0" lang="en-US" sz="15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we've never been to this site, so the cache comes up empty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7680960" y="2103120"/>
            <a:ext cx="3383280" cy="2377440"/>
          </a:xfrm>
          <a:prstGeom prst="roundRect">
            <a:avLst>
              <a:gd fmla="val 3846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4"/>
          <p:cNvSpPr/>
          <p:nvPr/>
        </p:nvSpPr>
        <p:spPr>
          <a:xfrm>
            <a:off x="8869680" y="2468880"/>
            <a:ext cx="1005840" cy="1005840"/>
          </a:xfrm>
          <a:prstGeom prst="ellipse">
            <a:avLst/>
          </a:prstGeom>
          <a:solidFill>
            <a:srgbClr val="2A34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8869680" y="246888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7680960" y="36118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 DNS Cache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9144000" y="3977640"/>
            <a:ext cx="457200" cy="457200"/>
          </a:xfrm>
          <a:prstGeom prst="ellipse">
            <a:avLst/>
          </a:prstGeom>
          <a:solidFill>
            <a:srgbClr val="E553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/>
          <p:nvPr/>
        </p:nvSpPr>
        <p:spPr>
          <a:xfrm>
            <a:off x="9144000" y="3977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7680960" y="44348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Not found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10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DNS STEP 2 OF 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Next Stop: The Recursive DNS Resolver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548640" y="1645920"/>
            <a:ext cx="5303520" cy="914400"/>
          </a:xfrm>
          <a:prstGeom prst="roundRect">
            <a:avLst>
              <a:gd fmla="val 8000" name="adj"/>
            </a:avLst>
          </a:prstGeom>
          <a:solidFill>
            <a:srgbClr val="161B22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5"/>
          <p:cNvSpPr/>
          <p:nvPr/>
        </p:nvSpPr>
        <p:spPr>
          <a:xfrm>
            <a:off x="640080" y="164592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Stub Resolver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(your device)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5852160" y="1627632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6309360" y="1645920"/>
            <a:ext cx="5303520" cy="914400"/>
          </a:xfrm>
          <a:prstGeom prst="roundRect">
            <a:avLst>
              <a:gd fmla="val 8000" name="adj"/>
            </a:avLst>
          </a:prstGeom>
          <a:solidFill>
            <a:srgbClr val="3DA9FC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6400800" y="164592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Recursive Resolver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(e.g. Google DNS 8.8.8.8)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548640" y="3017520"/>
            <a:ext cx="108813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Since nothing was found locally — </a:t>
            </a:r>
            <a:r>
              <a:rPr b="0" i="0" lang="en-US" sz="14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the stub resolver queries a public recursive DNS resolver — a well-known example is Google Public DNS at 8.8.8.8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Still no answer yet — </a:t>
            </a:r>
            <a:r>
              <a:rPr b="0" i="0" lang="en-US" sz="14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but this server doesn't give up — it starts a recursive process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It will reach out to a chain of other DNS servers — </a:t>
            </a:r>
            <a:r>
              <a:rPr b="0" i="0" lang="en-US" sz="14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each one pointing it a little closer to the answer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548640" y="54864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“I don't know, but I know a guy who knows a guy who might.”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11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DNS STEP 3 OF 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Google DNS Checks Its Cache Too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548640" y="1737360"/>
            <a:ext cx="60350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Before reaching out anywhere else — </a:t>
            </a:r>
            <a:r>
              <a:rPr b="0" i="0" lang="en-US" sz="15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Google's DNS resolver checks its own cache first — has anyone, anywhere, recently asked for this domain?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If cached — </a:t>
            </a:r>
            <a:r>
              <a:rPr b="0" i="0" lang="en-US" sz="15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the process could end right here with an instant answer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In our example — </a:t>
            </a:r>
            <a:r>
              <a:rPr b="0" i="0" lang="en-US" sz="15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no one has looked this up recently, so Google's DNS also comes up empty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7589520" y="2103120"/>
            <a:ext cx="3474720" cy="2377440"/>
          </a:xfrm>
          <a:prstGeom prst="roundRect">
            <a:avLst>
              <a:gd fmla="val 3846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6"/>
          <p:cNvSpPr/>
          <p:nvPr/>
        </p:nvSpPr>
        <p:spPr>
          <a:xfrm>
            <a:off x="8823960" y="2468880"/>
            <a:ext cx="1005840" cy="1005840"/>
          </a:xfrm>
          <a:prstGeom prst="ellipse">
            <a:avLst/>
          </a:prstGeom>
          <a:solidFill>
            <a:srgbClr val="2A34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6"/>
          <p:cNvSpPr/>
          <p:nvPr/>
        </p:nvSpPr>
        <p:spPr>
          <a:xfrm>
            <a:off x="8823960" y="246888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7589520" y="36118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DNS Cache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9098280" y="3977640"/>
            <a:ext cx="457200" cy="457200"/>
          </a:xfrm>
          <a:prstGeom prst="ellipse">
            <a:avLst/>
          </a:prstGeom>
          <a:solidFill>
            <a:srgbClr val="E553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9098280" y="3977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7589520" y="44348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Empty — must go ask the DNS hierarchy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12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DNS STEP 4 OF 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Asking "The Roots"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548640" y="1691640"/>
            <a:ext cx="110642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13 root server addresses — </a:t>
            </a:r>
            <a:r>
              <a:rPr b="0" i="0" lang="en-US" sz="14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globally (A through M) — each backed by many physical servers worldwide for redundancy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Operated by a mix of organizations — </a:t>
            </a:r>
            <a:r>
              <a:rPr b="0" i="0" lang="en-US" sz="14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including Verisign (A, J), NASA (E), ISC (F), plus US Army, ICANN, RIPE NCC, and others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Root servers don't know the IP — </a:t>
            </a:r>
            <a:r>
              <a:rPr b="0" i="0" lang="en-US" sz="14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they only know which servers handle each top-level domain (.com, .org, .net)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The referral — </a:t>
            </a:r>
            <a:r>
              <a:rPr b="0" i="0" lang="en-US" sz="14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“I don't know the answer, but here's who handles all .com domains”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3566160" y="5074920"/>
            <a:ext cx="5029200" cy="502920"/>
          </a:xfrm>
          <a:prstGeom prst="roundRect">
            <a:avLst>
              <a:gd fmla="val 10909" name="adj"/>
            </a:avLst>
          </a:prstGeom>
          <a:solidFill>
            <a:srgbClr val="1B2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7"/>
          <p:cNvSpPr/>
          <p:nvPr/>
        </p:nvSpPr>
        <p:spPr>
          <a:xfrm>
            <a:off x="3566160" y="507492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 Root Servers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17"/>
          <p:cNvCxnSpPr/>
          <p:nvPr/>
        </p:nvCxnSpPr>
        <p:spPr>
          <a:xfrm>
            <a:off x="4251960" y="5577840"/>
            <a:ext cx="0" cy="320040"/>
          </a:xfrm>
          <a:prstGeom prst="straightConnector1">
            <a:avLst/>
          </a:prstGeom>
          <a:noFill/>
          <a:ln cap="flat" cmpd="sng" w="15875">
            <a:solidFill>
              <a:srgbClr val="8A94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17"/>
          <p:cNvSpPr/>
          <p:nvPr/>
        </p:nvSpPr>
        <p:spPr>
          <a:xfrm>
            <a:off x="3566160" y="5897880"/>
            <a:ext cx="1463040" cy="548640"/>
          </a:xfrm>
          <a:prstGeom prst="roundRect">
            <a:avLst>
              <a:gd fmla="val 1000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7"/>
          <p:cNvSpPr/>
          <p:nvPr/>
        </p:nvSpPr>
        <p:spPr>
          <a:xfrm>
            <a:off x="3566160" y="589788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Verisign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(A, J)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17"/>
          <p:cNvCxnSpPr/>
          <p:nvPr/>
        </p:nvCxnSpPr>
        <p:spPr>
          <a:xfrm>
            <a:off x="5989320" y="5577840"/>
            <a:ext cx="0" cy="320040"/>
          </a:xfrm>
          <a:prstGeom prst="straightConnector1">
            <a:avLst/>
          </a:prstGeom>
          <a:noFill/>
          <a:ln cap="flat" cmpd="sng" w="15875">
            <a:solidFill>
              <a:srgbClr val="8A94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5303520" y="5897880"/>
            <a:ext cx="1463040" cy="548640"/>
          </a:xfrm>
          <a:prstGeom prst="roundRect">
            <a:avLst>
              <a:gd fmla="val 1000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7"/>
          <p:cNvSpPr/>
          <p:nvPr/>
        </p:nvSpPr>
        <p:spPr>
          <a:xfrm>
            <a:off x="5303520" y="589788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NASA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(E)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17"/>
          <p:cNvCxnSpPr/>
          <p:nvPr/>
        </p:nvCxnSpPr>
        <p:spPr>
          <a:xfrm>
            <a:off x="7726680" y="5577840"/>
            <a:ext cx="0" cy="320040"/>
          </a:xfrm>
          <a:prstGeom prst="straightConnector1">
            <a:avLst/>
          </a:prstGeom>
          <a:noFill/>
          <a:ln cap="flat" cmpd="sng" w="15875">
            <a:solidFill>
              <a:srgbClr val="8A94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17"/>
          <p:cNvSpPr/>
          <p:nvPr/>
        </p:nvSpPr>
        <p:spPr>
          <a:xfrm>
            <a:off x="7040880" y="5897880"/>
            <a:ext cx="1463040" cy="548640"/>
          </a:xfrm>
          <a:prstGeom prst="roundRect">
            <a:avLst>
              <a:gd fmla="val 1000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"/>
          <p:cNvSpPr/>
          <p:nvPr/>
        </p:nvSpPr>
        <p:spPr>
          <a:xfrm>
            <a:off x="7040880" y="589788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ISC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(F)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13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CONCEPT CHECK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Understanding Top-Level Domains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A Top-Level Domain (TLD) is the very last segment of a domain name — the part after the final dot.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8"/>
          <p:cNvSpPr/>
          <p:nvPr/>
        </p:nvSpPr>
        <p:spPr>
          <a:xfrm>
            <a:off x="548640" y="2103120"/>
            <a:ext cx="3566160" cy="105156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8"/>
          <p:cNvSpPr/>
          <p:nvPr/>
        </p:nvSpPr>
        <p:spPr>
          <a:xfrm>
            <a:off x="685800" y="217627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FC9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B6FC9"/>
                </a:solidFill>
                <a:latin typeface="Courier New"/>
                <a:ea typeface="Courier New"/>
                <a:cs typeface="Courier New"/>
                <a:sym typeface="Courier New"/>
              </a:rPr>
              <a:t>.com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685800" y="2505456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Originally for commercial businesses, now used broadly by everyone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4251960" y="2103120"/>
            <a:ext cx="3566160" cy="105156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8"/>
          <p:cNvSpPr/>
          <p:nvPr/>
        </p:nvSpPr>
        <p:spPr>
          <a:xfrm>
            <a:off x="4389120" y="217627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FC9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B6FC9"/>
                </a:solidFill>
                <a:latin typeface="Courier New"/>
                <a:ea typeface="Courier New"/>
                <a:cs typeface="Courier New"/>
                <a:sym typeface="Courier New"/>
              </a:rPr>
              <a:t>.org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4389120" y="2505456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Traditionally used by non-profits and organizations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7955280" y="2103120"/>
            <a:ext cx="3566160" cy="105156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8"/>
          <p:cNvSpPr/>
          <p:nvPr/>
        </p:nvSpPr>
        <p:spPr>
          <a:xfrm>
            <a:off x="8092440" y="217627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FC9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B6FC9"/>
                </a:solidFill>
                <a:latin typeface="Courier New"/>
                <a:ea typeface="Courier New"/>
                <a:cs typeface="Courier New"/>
                <a:sym typeface="Courier New"/>
              </a:rPr>
              <a:t>.net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8"/>
          <p:cNvSpPr/>
          <p:nvPr/>
        </p:nvSpPr>
        <p:spPr>
          <a:xfrm>
            <a:off x="8092440" y="2505456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Originally for network infrastructure providers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"/>
          <p:cNvSpPr/>
          <p:nvPr/>
        </p:nvSpPr>
        <p:spPr>
          <a:xfrm>
            <a:off x="548640" y="3291840"/>
            <a:ext cx="3566160" cy="105156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8"/>
          <p:cNvSpPr/>
          <p:nvPr/>
        </p:nvSpPr>
        <p:spPr>
          <a:xfrm>
            <a:off x="685800" y="336499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FC9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B6FC9"/>
                </a:solidFill>
                <a:latin typeface="Courier New"/>
                <a:ea typeface="Courier New"/>
                <a:cs typeface="Courier New"/>
                <a:sym typeface="Courier New"/>
              </a:rPr>
              <a:t>.gov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8"/>
          <p:cNvSpPr/>
          <p:nvPr/>
        </p:nvSpPr>
        <p:spPr>
          <a:xfrm>
            <a:off x="685800" y="3694176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Reserved for U.S. government entities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8"/>
          <p:cNvSpPr/>
          <p:nvPr/>
        </p:nvSpPr>
        <p:spPr>
          <a:xfrm>
            <a:off x="4251960" y="3291840"/>
            <a:ext cx="3566160" cy="105156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8"/>
          <p:cNvSpPr/>
          <p:nvPr/>
        </p:nvSpPr>
        <p:spPr>
          <a:xfrm>
            <a:off x="4389120" y="336499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FC9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B6FC9"/>
                </a:solidFill>
                <a:latin typeface="Courier New"/>
                <a:ea typeface="Courier New"/>
                <a:cs typeface="Courier New"/>
                <a:sym typeface="Courier New"/>
              </a:rPr>
              <a:t>.io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4389120" y="3694176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Originally the British Indian Ocean Territory, now popular with startups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8"/>
          <p:cNvSpPr/>
          <p:nvPr/>
        </p:nvSpPr>
        <p:spPr>
          <a:xfrm>
            <a:off x="7955280" y="3291840"/>
            <a:ext cx="3566160" cy="105156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8"/>
          <p:cNvSpPr/>
          <p:nvPr/>
        </p:nvSpPr>
        <p:spPr>
          <a:xfrm>
            <a:off x="8092440" y="336499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FC9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B6FC9"/>
                </a:solidFill>
                <a:latin typeface="Courier New"/>
                <a:ea typeface="Courier New"/>
                <a:cs typeface="Courier New"/>
                <a:sym typeface="Courier New"/>
              </a:rPr>
              <a:t>.in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8092440" y="3694176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The country-code TLD for India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Each TLD has its own dedicated DNS servers. Since our example domain ends in </a:t>
            </a:r>
            <a:r>
              <a:rPr b="1" i="0" lang="en-US" sz="1300" u="none" cap="none" strike="noStrike">
                <a:solidFill>
                  <a:srgbClr val="1B6FC9"/>
                </a:solidFill>
                <a:latin typeface="Courier New"/>
                <a:ea typeface="Courier New"/>
                <a:cs typeface="Courier New"/>
                <a:sym typeface="Courier New"/>
              </a:rPr>
              <a:t>.com</a:t>
            </a:r>
            <a:r>
              <a:rPr b="0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, the next step is contacting the servers responsible for the entire .com TLD.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14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9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DNS STEP 5 OF 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Getting Closer: The Second-Level Domain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/>
          <p:nvPr/>
        </p:nvSpPr>
        <p:spPr>
          <a:xfrm>
            <a:off x="548640" y="1691640"/>
            <a:ext cx="3383280" cy="960120"/>
          </a:xfrm>
          <a:prstGeom prst="roundRect">
            <a:avLst>
              <a:gd fmla="val 7619" name="adj"/>
            </a:avLst>
          </a:prstGeom>
          <a:solidFill>
            <a:srgbClr val="161B22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9"/>
          <p:cNvSpPr/>
          <p:nvPr/>
        </p:nvSpPr>
        <p:spPr>
          <a:xfrm>
            <a:off x="640080" y="1691640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.com TLD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Servers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9"/>
          <p:cNvSpPr/>
          <p:nvPr/>
        </p:nvSpPr>
        <p:spPr>
          <a:xfrm>
            <a:off x="3931920" y="1673352"/>
            <a:ext cx="457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9"/>
          <p:cNvSpPr/>
          <p:nvPr/>
        </p:nvSpPr>
        <p:spPr>
          <a:xfrm>
            <a:off x="4389120" y="1691640"/>
            <a:ext cx="338328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9"/>
          <p:cNvSpPr/>
          <p:nvPr/>
        </p:nvSpPr>
        <p:spPr>
          <a:xfrm>
            <a:off x="4480560" y="1691640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procurement.com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(Second-Level Domain)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9"/>
          <p:cNvSpPr/>
          <p:nvPr/>
        </p:nvSpPr>
        <p:spPr>
          <a:xfrm>
            <a:off x="7772400" y="1673352"/>
            <a:ext cx="457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8229600" y="1691640"/>
            <a:ext cx="3383280" cy="960120"/>
          </a:xfrm>
          <a:prstGeom prst="roundRect">
            <a:avLst>
              <a:gd fmla="val 7619" name="adj"/>
            </a:avLst>
          </a:prstGeom>
          <a:solidFill>
            <a:srgbClr val="3DA9FC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9"/>
          <p:cNvSpPr/>
          <p:nvPr/>
        </p:nvSpPr>
        <p:spPr>
          <a:xfrm>
            <a:off x="8321040" y="1691640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Managed by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Cloudflare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/>
          <p:nvPr/>
        </p:nvSpPr>
        <p:spPr>
          <a:xfrm>
            <a:off x="548640" y="3063240"/>
            <a:ext cx="110642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Do these servers have the final IP? — </a:t>
            </a:r>
            <a:r>
              <a:rPr b="0" i="0" lang="en-US" sz="14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Still no.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Instead — </a:t>
            </a:r>
            <a:r>
              <a:rPr b="0" i="0" lang="en-US" sz="14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the .com TLD server is asked about the Second-Level Domain (SLD) — procurement.com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The TLD server knows who manages it — </a:t>
            </a:r>
            <a:r>
              <a:rPr b="0" i="0" lang="en-US" sz="14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for example, let's say it's managed by Cloudflare, a very common DNS/infrastructure provider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Response — </a:t>
            </a:r>
            <a:r>
              <a:rPr b="0" i="0" lang="en-US" sz="14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the .com TLD server replies with the details of the Cloudflare servers responsible for procurement.com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15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DNS STEP 6 OF 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Finally — The IP Address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548640" y="1691640"/>
            <a:ext cx="60350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Cloudflare's server is authoritative — </a:t>
            </a:r>
            <a:r>
              <a:rPr b="0" i="0" lang="en-US" sz="14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it holds the real DNS records for procurement.com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It responds with the actual IP address — </a:t>
            </a:r>
            <a:r>
              <a:rPr b="0" i="0" lang="en-US" sz="14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for example, 104.XX.XX.46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Google's DNS resolver caches this result — </a:t>
            </a:r>
            <a:r>
              <a:rPr b="0" i="0" lang="en-US" sz="14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so the next person who looks it up gets an instant answer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The IP is passed back down — </a:t>
            </a:r>
            <a:r>
              <a:rPr b="0" i="0" lang="en-US" sz="14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all the way to your device's original stub resolver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6949440" y="2103120"/>
            <a:ext cx="837590" cy="685800"/>
          </a:xfrm>
          <a:prstGeom prst="roundRect">
            <a:avLst>
              <a:gd fmla="val 800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0"/>
          <p:cNvSpPr/>
          <p:nvPr/>
        </p:nvSpPr>
        <p:spPr>
          <a:xfrm>
            <a:off x="6949440" y="2103120"/>
            <a:ext cx="8375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Resolver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7860182" y="2103120"/>
            <a:ext cx="837590" cy="685800"/>
          </a:xfrm>
          <a:prstGeom prst="roundRect">
            <a:avLst>
              <a:gd fmla="val 800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0"/>
          <p:cNvSpPr/>
          <p:nvPr/>
        </p:nvSpPr>
        <p:spPr>
          <a:xfrm>
            <a:off x="7860182" y="2103120"/>
            <a:ext cx="8375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8770925" y="2103120"/>
            <a:ext cx="837590" cy="685800"/>
          </a:xfrm>
          <a:prstGeom prst="roundRect">
            <a:avLst>
              <a:gd fmla="val 800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0"/>
          <p:cNvSpPr/>
          <p:nvPr/>
        </p:nvSpPr>
        <p:spPr>
          <a:xfrm>
            <a:off x="8770925" y="2103120"/>
            <a:ext cx="8375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9681667" y="2103120"/>
            <a:ext cx="837590" cy="685800"/>
          </a:xfrm>
          <a:prstGeom prst="roundRect">
            <a:avLst>
              <a:gd fmla="val 800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9681667" y="2103120"/>
            <a:ext cx="8375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10592410" y="2103120"/>
            <a:ext cx="837590" cy="685800"/>
          </a:xfrm>
          <a:prstGeom prst="roundRect">
            <a:avLst>
              <a:gd fmla="val 8000" name="adj"/>
            </a:avLst>
          </a:prstGeom>
          <a:solidFill>
            <a:srgbClr val="3FB6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>
            <a:off x="10592410" y="2103120"/>
            <a:ext cx="8375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Cloudflare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6949440" y="3108960"/>
            <a:ext cx="4480560" cy="146304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25400">
            <a:solidFill>
              <a:srgbClr val="3FB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7223760" y="3337560"/>
            <a:ext cx="548640" cy="548640"/>
          </a:xfrm>
          <a:prstGeom prst="ellipse">
            <a:avLst/>
          </a:prstGeom>
          <a:solidFill>
            <a:srgbClr val="3FB6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0"/>
          <p:cNvSpPr/>
          <p:nvPr/>
        </p:nvSpPr>
        <p:spPr>
          <a:xfrm>
            <a:off x="7223760" y="33375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7955280" y="33832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IP Address Found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7955280" y="37033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FC9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1B6FC9"/>
                </a:solidFill>
                <a:latin typeface="Courier New"/>
                <a:ea typeface="Courier New"/>
                <a:cs typeface="Courier New"/>
                <a:sym typeface="Courier New"/>
              </a:rPr>
              <a:t>104.XX.XX.46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16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TRANSITION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Address Found — Time to Fetch the Page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548640" y="2011680"/>
            <a:ext cx="3383280" cy="1005840"/>
          </a:xfrm>
          <a:prstGeom prst="roundRect">
            <a:avLst>
              <a:gd fmla="val 7273" name="adj"/>
            </a:avLst>
          </a:prstGeom>
          <a:solidFill>
            <a:srgbClr val="161B22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1"/>
          <p:cNvSpPr/>
          <p:nvPr/>
        </p:nvSpPr>
        <p:spPr>
          <a:xfrm>
            <a:off x="640080" y="201168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Browser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3931920" y="1993392"/>
            <a:ext cx="457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4389120" y="2011680"/>
            <a:ext cx="3383280" cy="1005840"/>
          </a:xfrm>
          <a:prstGeom prst="roundRect">
            <a:avLst>
              <a:gd fmla="val 7273" name="adj"/>
            </a:avLst>
          </a:prstGeom>
          <a:solidFill>
            <a:srgbClr val="3DA9FC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1"/>
          <p:cNvSpPr/>
          <p:nvPr/>
        </p:nvSpPr>
        <p:spPr>
          <a:xfrm>
            <a:off x="4480560" y="201168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HTTP/HTTPS Request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7772400" y="1993392"/>
            <a:ext cx="457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8229600" y="2011680"/>
            <a:ext cx="338328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1"/>
          <p:cNvSpPr/>
          <p:nvPr/>
        </p:nvSpPr>
        <p:spPr>
          <a:xfrm>
            <a:off x="8321040" y="201168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Server Response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(HTML, CSS, JS, images)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548640" y="3657600"/>
            <a:ext cx="11064240" cy="1463040"/>
          </a:xfrm>
          <a:prstGeom prst="roundRect">
            <a:avLst>
              <a:gd fmla="val 500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1"/>
          <p:cNvSpPr/>
          <p:nvPr/>
        </p:nvSpPr>
        <p:spPr>
          <a:xfrm>
            <a:off x="914400" y="3886200"/>
            <a:ext cx="10332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Now that the browser finally has the IP address, it can make an actual </a:t>
            </a:r>
            <a:r>
              <a:rPr b="1" i="0" lang="en-US" sz="14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HTTP/HTTPS request</a:t>
            </a: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 to that server. The server responds with the files needed to build the page — typically an HTML file, along with CSS, JavaScript, images, and other resources.</a:t>
            </a:r>
            <a:b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4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This is where the DNS journey ends, and the browser's internal parsing and rendering process begins.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17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2"/>
          <p:cNvSpPr/>
          <p:nvPr/>
        </p:nvSpPr>
        <p:spPr>
          <a:xfrm>
            <a:off x="4937760" y="2331720"/>
            <a:ext cx="2286000" cy="1371600"/>
          </a:xfrm>
          <a:prstGeom prst="roundRect">
            <a:avLst>
              <a:gd fmla="val 6667" name="adj"/>
            </a:avLst>
          </a:prstGeom>
          <a:solidFill>
            <a:srgbClr val="1C2530"/>
          </a:solidFill>
          <a:ln cap="flat" cmpd="sng" w="12700">
            <a:solidFill>
              <a:srgbClr val="2A3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2"/>
          <p:cNvSpPr/>
          <p:nvPr/>
        </p:nvSpPr>
        <p:spPr>
          <a:xfrm>
            <a:off x="4937760" y="233172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4000"/>
              <a:buFont typeface="Courier New"/>
              <a:buNone/>
            </a:pPr>
            <a:r>
              <a:rPr b="1" i="0" lang="en-US" sz="4000" u="none" cap="none" strike="noStrike">
                <a:solidFill>
                  <a:srgbClr val="3DA9FC"/>
                </a:solidFill>
                <a:latin typeface="Courier New"/>
                <a:ea typeface="Courier New"/>
                <a:cs typeface="Courier New"/>
                <a:sym typeface="Courier New"/>
              </a:rPr>
              <a:t>&lt;/&gt;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731520" y="3977640"/>
            <a:ext cx="10698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PARSING AND RENDERING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1371600" y="4800600"/>
            <a:ext cx="9418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How raw files become a visible webpage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2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18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PARSING BASICS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Making Sense of the Files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3"/>
          <p:cNvSpPr/>
          <p:nvPr/>
        </p:nvSpPr>
        <p:spPr>
          <a:xfrm>
            <a:off x="548640" y="1691640"/>
            <a:ext cx="1106424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Parsing — </a:t>
            </a:r>
            <a:r>
              <a:rPr b="0" i="0" lang="en-US" sz="15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means translating raw text into a structured format the browser's code can work with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The structured format — </a:t>
            </a:r>
            <a:r>
              <a:rPr b="0" i="0" lang="en-US" sz="15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is usually a tree — a hierarchy of connected pieces representing the document's structure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HTML vs. CSS — </a:t>
            </a:r>
            <a:r>
              <a:rPr b="0" i="0" lang="en-US" sz="15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HTML is deliberately “forgiving” and tolerates mistakes like unclosed tags, while CSS follows stricter, well-defined grammar rules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Because HTML is forgiving — </a:t>
            </a:r>
            <a:r>
              <a:rPr b="0" i="0" lang="en-US" sz="15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it can't be validated like most programming languages — invalid HTML rarely produces a visible error; the browser just does its best to fix it silently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3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19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THE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The Rendering Pipeline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4"/>
          <p:cNvSpPr/>
          <p:nvPr/>
        </p:nvSpPr>
        <p:spPr>
          <a:xfrm>
            <a:off x="548640" y="1828800"/>
            <a:ext cx="170688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587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4"/>
          <p:cNvSpPr/>
          <p:nvPr/>
        </p:nvSpPr>
        <p:spPr>
          <a:xfrm>
            <a:off x="548640" y="1828800"/>
            <a:ext cx="1706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Parse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HTML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2255520" y="1810512"/>
            <a:ext cx="16459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4"/>
          <p:cNvSpPr/>
          <p:nvPr/>
        </p:nvSpPr>
        <p:spPr>
          <a:xfrm>
            <a:off x="2420112" y="1828800"/>
            <a:ext cx="170688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587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4"/>
          <p:cNvSpPr/>
          <p:nvPr/>
        </p:nvSpPr>
        <p:spPr>
          <a:xfrm>
            <a:off x="2420112" y="1828800"/>
            <a:ext cx="1706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Parse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CSS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4"/>
          <p:cNvSpPr/>
          <p:nvPr/>
        </p:nvSpPr>
        <p:spPr>
          <a:xfrm>
            <a:off x="4126992" y="1810512"/>
            <a:ext cx="16459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4"/>
          <p:cNvSpPr/>
          <p:nvPr/>
        </p:nvSpPr>
        <p:spPr>
          <a:xfrm>
            <a:off x="4291584" y="1828800"/>
            <a:ext cx="170688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587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4"/>
          <p:cNvSpPr/>
          <p:nvPr/>
        </p:nvSpPr>
        <p:spPr>
          <a:xfrm>
            <a:off x="4291584" y="1828800"/>
            <a:ext cx="1706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Render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5998464" y="1810512"/>
            <a:ext cx="16459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4"/>
          <p:cNvSpPr/>
          <p:nvPr/>
        </p:nvSpPr>
        <p:spPr>
          <a:xfrm>
            <a:off x="6163056" y="1828800"/>
            <a:ext cx="170688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587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4"/>
          <p:cNvSpPr/>
          <p:nvPr/>
        </p:nvSpPr>
        <p:spPr>
          <a:xfrm>
            <a:off x="6163056" y="1828800"/>
            <a:ext cx="1706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Layout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7869936" y="1810512"/>
            <a:ext cx="16459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4"/>
          <p:cNvSpPr/>
          <p:nvPr/>
        </p:nvSpPr>
        <p:spPr>
          <a:xfrm>
            <a:off x="8034528" y="1828800"/>
            <a:ext cx="170688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587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4"/>
          <p:cNvSpPr/>
          <p:nvPr/>
        </p:nvSpPr>
        <p:spPr>
          <a:xfrm>
            <a:off x="8034528" y="1828800"/>
            <a:ext cx="1706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Paint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4"/>
          <p:cNvSpPr/>
          <p:nvPr/>
        </p:nvSpPr>
        <p:spPr>
          <a:xfrm>
            <a:off x="9741408" y="1810512"/>
            <a:ext cx="16459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4"/>
          <p:cNvSpPr/>
          <p:nvPr/>
        </p:nvSpPr>
        <p:spPr>
          <a:xfrm>
            <a:off x="9906000" y="1828800"/>
            <a:ext cx="170688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587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4"/>
          <p:cNvSpPr/>
          <p:nvPr/>
        </p:nvSpPr>
        <p:spPr>
          <a:xfrm>
            <a:off x="9906000" y="1828800"/>
            <a:ext cx="1706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Composite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4"/>
          <p:cNvSpPr/>
          <p:nvPr/>
        </p:nvSpPr>
        <p:spPr>
          <a:xfrm>
            <a:off x="548640" y="3200400"/>
            <a:ext cx="3566160" cy="1371600"/>
          </a:xfrm>
          <a:prstGeom prst="roundRect">
            <a:avLst>
              <a:gd fmla="val 4667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4"/>
          <p:cNvSpPr/>
          <p:nvPr/>
        </p:nvSpPr>
        <p:spPr>
          <a:xfrm>
            <a:off x="685800" y="32918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3DA9FC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1097280" y="3319272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Parse HTML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4"/>
          <p:cNvSpPr/>
          <p:nvPr/>
        </p:nvSpPr>
        <p:spPr>
          <a:xfrm>
            <a:off x="685800" y="3730752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Build a tree structure (the DOM) from the HTML file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4"/>
          <p:cNvSpPr/>
          <p:nvPr/>
        </p:nvSpPr>
        <p:spPr>
          <a:xfrm>
            <a:off x="4251960" y="3200400"/>
            <a:ext cx="3566160" cy="1371600"/>
          </a:xfrm>
          <a:prstGeom prst="roundRect">
            <a:avLst>
              <a:gd fmla="val 4667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4"/>
          <p:cNvSpPr/>
          <p:nvPr/>
        </p:nvSpPr>
        <p:spPr>
          <a:xfrm>
            <a:off x="4389120" y="32918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3DA9FC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4"/>
          <p:cNvSpPr/>
          <p:nvPr/>
        </p:nvSpPr>
        <p:spPr>
          <a:xfrm>
            <a:off x="4800600" y="3319272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Parse CSS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4"/>
          <p:cNvSpPr/>
          <p:nvPr/>
        </p:nvSpPr>
        <p:spPr>
          <a:xfrm>
            <a:off x="4389120" y="3730752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Build a tree structure (the CSSOM) from all CSS rules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4"/>
          <p:cNvSpPr/>
          <p:nvPr/>
        </p:nvSpPr>
        <p:spPr>
          <a:xfrm>
            <a:off x="7955280" y="3200400"/>
            <a:ext cx="3566160" cy="1371600"/>
          </a:xfrm>
          <a:prstGeom prst="roundRect">
            <a:avLst>
              <a:gd fmla="val 4667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4"/>
          <p:cNvSpPr/>
          <p:nvPr/>
        </p:nvSpPr>
        <p:spPr>
          <a:xfrm>
            <a:off x="8092440" y="32918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3DA9FC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4"/>
          <p:cNvSpPr/>
          <p:nvPr/>
        </p:nvSpPr>
        <p:spPr>
          <a:xfrm>
            <a:off x="8503920" y="3319272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Render Tree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4"/>
          <p:cNvSpPr/>
          <p:nvPr/>
        </p:nvSpPr>
        <p:spPr>
          <a:xfrm>
            <a:off x="8092440" y="3730752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Combine DOM + CSSOM into one tree of only visible elements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548640" y="4709160"/>
            <a:ext cx="3566160" cy="1371600"/>
          </a:xfrm>
          <a:prstGeom prst="roundRect">
            <a:avLst>
              <a:gd fmla="val 4667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4"/>
          <p:cNvSpPr/>
          <p:nvPr/>
        </p:nvSpPr>
        <p:spPr>
          <a:xfrm>
            <a:off x="685800" y="480060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3DA9FC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4"/>
          <p:cNvSpPr/>
          <p:nvPr/>
        </p:nvSpPr>
        <p:spPr>
          <a:xfrm>
            <a:off x="1097280" y="4828032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Layout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4"/>
          <p:cNvSpPr/>
          <p:nvPr/>
        </p:nvSpPr>
        <p:spPr>
          <a:xfrm>
            <a:off x="685800" y="5239512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Calculate the exact position and size of every element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4251960" y="4709160"/>
            <a:ext cx="3566160" cy="1371600"/>
          </a:xfrm>
          <a:prstGeom prst="roundRect">
            <a:avLst>
              <a:gd fmla="val 4667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4"/>
          <p:cNvSpPr/>
          <p:nvPr/>
        </p:nvSpPr>
        <p:spPr>
          <a:xfrm>
            <a:off x="4389120" y="480060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3DA9FC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4800600" y="4828032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Paint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4"/>
          <p:cNvSpPr/>
          <p:nvPr/>
        </p:nvSpPr>
        <p:spPr>
          <a:xfrm>
            <a:off x="4389120" y="5239512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Fill in the actual pixels: colors, text, borders, images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7955280" y="4709160"/>
            <a:ext cx="3566160" cy="1371600"/>
          </a:xfrm>
          <a:prstGeom prst="roundRect">
            <a:avLst>
              <a:gd fmla="val 4667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4"/>
          <p:cNvSpPr/>
          <p:nvPr/>
        </p:nvSpPr>
        <p:spPr>
          <a:xfrm>
            <a:off x="8092440" y="480060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3DA9FC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8503920" y="4828032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Composite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8092440" y="5239512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Assemble everything into the final image, using the GPU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20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5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HTML PARSING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5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HTML Parsing — Two Major Steps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5"/>
          <p:cNvSpPr/>
          <p:nvPr/>
        </p:nvSpPr>
        <p:spPr>
          <a:xfrm>
            <a:off x="548640" y="1737360"/>
            <a:ext cx="5394960" cy="2103120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5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3DA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5"/>
          <p:cNvSpPr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5"/>
          <p:cNvSpPr/>
          <p:nvPr/>
        </p:nvSpPr>
        <p:spPr>
          <a:xfrm>
            <a:off x="1645920" y="201168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Tokenization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5"/>
          <p:cNvSpPr/>
          <p:nvPr/>
        </p:nvSpPr>
        <p:spPr>
          <a:xfrm>
            <a:off x="822960" y="269748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Breaking the raw HTML text into meaningful pieces called “tokens” — like a start tag, an end tag, or a piece of text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5"/>
          <p:cNvSpPr/>
          <p:nvPr/>
        </p:nvSpPr>
        <p:spPr>
          <a:xfrm>
            <a:off x="6172200" y="1737360"/>
            <a:ext cx="5394960" cy="2103120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5"/>
          <p:cNvSpPr/>
          <p:nvPr/>
        </p:nvSpPr>
        <p:spPr>
          <a:xfrm>
            <a:off x="6446520" y="1965960"/>
            <a:ext cx="640080" cy="640080"/>
          </a:xfrm>
          <a:prstGeom prst="ellipse">
            <a:avLst/>
          </a:prstGeom>
          <a:solidFill>
            <a:srgbClr val="3DA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5"/>
          <p:cNvSpPr/>
          <p:nvPr/>
        </p:nvSpPr>
        <p:spPr>
          <a:xfrm>
            <a:off x="6446520" y="1965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5"/>
          <p:cNvSpPr/>
          <p:nvPr/>
        </p:nvSpPr>
        <p:spPr>
          <a:xfrm>
            <a:off x="7269480" y="201168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Tree Construction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5"/>
          <p:cNvSpPr/>
          <p:nvPr/>
        </p:nvSpPr>
        <p:spPr>
          <a:xfrm>
            <a:off x="6446520" y="269748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Taking those tokens, one at a time, and building the actual DOM tree from them, handling structural mistakes along the way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5"/>
          <p:cNvSpPr/>
          <p:nvPr/>
        </p:nvSpPr>
        <p:spPr>
          <a:xfrm>
            <a:off x="548640" y="4114800"/>
            <a:ext cx="11064240" cy="1280160"/>
          </a:xfrm>
          <a:prstGeom prst="roundRect">
            <a:avLst>
              <a:gd fmla="val 5714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Both stages are formally defined in the official HTML specification, and both are implemented as </a:t>
            </a:r>
            <a:r>
              <a:rPr b="1" i="0" lang="en-US" sz="14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state machines</a:t>
            </a: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 — the parser is always in exactly one specific “state,” and each character it reads moves it to its next state.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5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21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6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LIVE EXAMPLE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6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Tokenization in Action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6"/>
          <p:cNvSpPr/>
          <p:nvPr/>
        </p:nvSpPr>
        <p:spPr>
          <a:xfrm>
            <a:off x="548640" y="1600200"/>
            <a:ext cx="5120640" cy="685800"/>
          </a:xfrm>
          <a:prstGeom prst="roundRect">
            <a:avLst>
              <a:gd fmla="val 8000" name="adj"/>
            </a:avLst>
          </a:prstGeom>
          <a:solidFill>
            <a:srgbClr val="0D1117"/>
          </a:solidFill>
          <a:ln cap="flat" cmpd="sng" w="12700">
            <a:solidFill>
              <a:srgbClr val="2A3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6"/>
          <p:cNvSpPr/>
          <p:nvPr/>
        </p:nvSpPr>
        <p:spPr>
          <a:xfrm>
            <a:off x="777240" y="1764792"/>
            <a:ext cx="46634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&lt;html&gt;&lt;body&gt;Hi&lt;/body&gt;&lt;/html&gt;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6"/>
          <p:cNvSpPr/>
          <p:nvPr/>
        </p:nvSpPr>
        <p:spPr>
          <a:xfrm>
            <a:off x="548640" y="2514600"/>
            <a:ext cx="11064240" cy="365760"/>
          </a:xfrm>
          <a:prstGeom prst="rect">
            <a:avLst/>
          </a:prstGeom>
          <a:solidFill>
            <a:srgbClr val="1B2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6"/>
          <p:cNvSpPr/>
          <p:nvPr/>
        </p:nvSpPr>
        <p:spPr>
          <a:xfrm>
            <a:off x="640080" y="25146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 seen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6"/>
          <p:cNvSpPr/>
          <p:nvPr/>
        </p:nvSpPr>
        <p:spPr>
          <a:xfrm>
            <a:off x="2194560" y="25146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happens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6"/>
          <p:cNvSpPr/>
          <p:nvPr/>
        </p:nvSpPr>
        <p:spPr>
          <a:xfrm>
            <a:off x="7680960" y="25146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Token created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6"/>
          <p:cNvSpPr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6"/>
          <p:cNvSpPr/>
          <p:nvPr/>
        </p:nvSpPr>
        <p:spPr>
          <a:xfrm>
            <a:off x="640080" y="28803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6"/>
          <p:cNvSpPr/>
          <p:nvPr/>
        </p:nvSpPr>
        <p:spPr>
          <a:xfrm>
            <a:off x="2194560" y="28803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Parser enters “Tag Open” state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6"/>
          <p:cNvSpPr/>
          <p:nvPr/>
        </p:nvSpPr>
        <p:spPr>
          <a:xfrm>
            <a:off x="7680960" y="28803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ourier New"/>
                <a:ea typeface="Courier New"/>
                <a:cs typeface="Courier New"/>
                <a:sym typeface="Courier New"/>
              </a:rPr>
              <a:t>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6"/>
          <p:cNvSpPr/>
          <p:nvPr/>
        </p:nvSpPr>
        <p:spPr>
          <a:xfrm>
            <a:off x="548640" y="3337560"/>
            <a:ext cx="11064240" cy="4572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6"/>
          <p:cNvSpPr/>
          <p:nvPr/>
        </p:nvSpPr>
        <p:spPr>
          <a:xfrm>
            <a:off x="640080" y="33375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6"/>
          <p:cNvSpPr/>
          <p:nvPr/>
        </p:nvSpPr>
        <p:spPr>
          <a:xfrm>
            <a:off x="2194560" y="33375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Parser reads the tag name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6"/>
          <p:cNvSpPr/>
          <p:nvPr/>
        </p:nvSpPr>
        <p:spPr>
          <a:xfrm>
            <a:off x="7680960" y="3337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ourier New"/>
                <a:ea typeface="Courier New"/>
                <a:cs typeface="Courier New"/>
                <a:sym typeface="Courier New"/>
              </a:rPr>
              <a:t>Start tag: &lt;html&gt;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6"/>
          <p:cNvSpPr/>
          <p:nvPr/>
        </p:nvSpPr>
        <p:spPr>
          <a:xfrm>
            <a:off x="548640" y="3794760"/>
            <a:ext cx="11064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6"/>
          <p:cNvSpPr/>
          <p:nvPr/>
        </p:nvSpPr>
        <p:spPr>
          <a:xfrm>
            <a:off x="640080" y="37947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6"/>
          <p:cNvSpPr/>
          <p:nvPr/>
        </p:nvSpPr>
        <p:spPr>
          <a:xfrm>
            <a:off x="2194560" y="37947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Tag closes, token is emitted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6"/>
          <p:cNvSpPr/>
          <p:nvPr/>
        </p:nvSpPr>
        <p:spPr>
          <a:xfrm>
            <a:off x="7680960" y="37947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ourier New"/>
                <a:ea typeface="Courier New"/>
                <a:cs typeface="Courier New"/>
                <a:sym typeface="Courier New"/>
              </a:rPr>
              <a:t>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6"/>
          <p:cNvSpPr/>
          <p:nvPr/>
        </p:nvSpPr>
        <p:spPr>
          <a:xfrm>
            <a:off x="548640" y="4251960"/>
            <a:ext cx="11064240" cy="4572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6"/>
          <p:cNvSpPr/>
          <p:nvPr/>
        </p:nvSpPr>
        <p:spPr>
          <a:xfrm>
            <a:off x="640080" y="42519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2194560" y="42519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Same process repeats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7680960" y="42519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ourier New"/>
                <a:ea typeface="Courier New"/>
                <a:cs typeface="Courier New"/>
                <a:sym typeface="Courier New"/>
              </a:rPr>
              <a:t>Start tag: &lt;body&gt;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6"/>
          <p:cNvSpPr/>
          <p:nvPr/>
        </p:nvSpPr>
        <p:spPr>
          <a:xfrm>
            <a:off x="640080" y="47091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ourier New"/>
                <a:ea typeface="Courier New"/>
                <a:cs typeface="Courier New"/>
                <a:sym typeface="Courier New"/>
              </a:rPr>
              <a:t>H, 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2194560" y="47091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Each character becomes its own token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6"/>
          <p:cNvSpPr/>
          <p:nvPr/>
        </p:nvSpPr>
        <p:spPr>
          <a:xfrm>
            <a:off x="7680960" y="47091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ourier New"/>
                <a:ea typeface="Courier New"/>
                <a:cs typeface="Courier New"/>
                <a:sym typeface="Courier New"/>
              </a:rPr>
              <a:t>Char tokens: H, 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6"/>
          <p:cNvSpPr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6"/>
          <p:cNvSpPr/>
          <p:nvPr/>
        </p:nvSpPr>
        <p:spPr>
          <a:xfrm>
            <a:off x="640080" y="51663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2194560" y="51663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Closing tag detected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7680960" y="51663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ourier New"/>
                <a:ea typeface="Courier New"/>
                <a:cs typeface="Courier New"/>
                <a:sym typeface="Courier New"/>
              </a:rPr>
              <a:t>End tag: &lt;/body&gt;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6"/>
          <p:cNvSpPr/>
          <p:nvPr/>
        </p:nvSpPr>
        <p:spPr>
          <a:xfrm>
            <a:off x="640080" y="56235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6"/>
          <p:cNvSpPr/>
          <p:nvPr/>
        </p:nvSpPr>
        <p:spPr>
          <a:xfrm>
            <a:off x="2194560" y="56235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Closing tag detected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6"/>
          <p:cNvSpPr/>
          <p:nvPr/>
        </p:nvSpPr>
        <p:spPr>
          <a:xfrm>
            <a:off x="7680960" y="5623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ourier New"/>
                <a:ea typeface="Courier New"/>
                <a:cs typeface="Courier New"/>
                <a:sym typeface="Courier New"/>
              </a:rPr>
              <a:t>End tag: &lt;/html&gt;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6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22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7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FROM TOKENS TO STRUCTURE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7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From Tokens to a Tree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Using the same HTML example, the tree constructor turns tokens into the actual DOM tree: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7"/>
          <p:cNvSpPr/>
          <p:nvPr/>
        </p:nvSpPr>
        <p:spPr>
          <a:xfrm>
            <a:off x="1828800" y="2103120"/>
            <a:ext cx="1645920" cy="548640"/>
          </a:xfrm>
          <a:prstGeom prst="roundRect">
            <a:avLst>
              <a:gd fmla="val 10000" name="adj"/>
            </a:avLst>
          </a:prstGeom>
          <a:solidFill>
            <a:srgbClr val="1B2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7"/>
          <p:cNvSpPr/>
          <p:nvPr/>
        </p:nvSpPr>
        <p:spPr>
          <a:xfrm>
            <a:off x="1828800" y="210312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7"/>
          <p:cNvSpPr/>
          <p:nvPr/>
        </p:nvSpPr>
        <p:spPr>
          <a:xfrm>
            <a:off x="2194560" y="2880360"/>
            <a:ext cx="1463040" cy="548640"/>
          </a:xfrm>
          <a:prstGeom prst="roundRect">
            <a:avLst>
              <a:gd fmla="val 10000" name="adj"/>
            </a:avLst>
          </a:prstGeom>
          <a:solidFill>
            <a:srgbClr val="3DA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7"/>
          <p:cNvSpPr/>
          <p:nvPr/>
        </p:nvSpPr>
        <p:spPr>
          <a:xfrm>
            <a:off x="2194560" y="288036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8" name="Google Shape;498;p27"/>
          <p:cNvCxnSpPr/>
          <p:nvPr/>
        </p:nvCxnSpPr>
        <p:spPr>
          <a:xfrm>
            <a:off x="2148840" y="2651760"/>
            <a:ext cx="365760" cy="228600"/>
          </a:xfrm>
          <a:prstGeom prst="straightConnector1">
            <a:avLst/>
          </a:prstGeom>
          <a:noFill/>
          <a:ln cap="flat" cmpd="sng" w="15875">
            <a:solidFill>
              <a:srgbClr val="8A94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p27"/>
          <p:cNvSpPr/>
          <p:nvPr/>
        </p:nvSpPr>
        <p:spPr>
          <a:xfrm>
            <a:off x="2560320" y="3657600"/>
            <a:ext cx="1463040" cy="548640"/>
          </a:xfrm>
          <a:prstGeom prst="roundRect">
            <a:avLst>
              <a:gd fmla="val 10000" name="adj"/>
            </a:avLst>
          </a:prstGeom>
          <a:solidFill>
            <a:srgbClr val="3DA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7"/>
          <p:cNvSpPr/>
          <p:nvPr/>
        </p:nvSpPr>
        <p:spPr>
          <a:xfrm>
            <a:off x="2560320" y="365760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1" name="Google Shape;501;p27"/>
          <p:cNvCxnSpPr/>
          <p:nvPr/>
        </p:nvCxnSpPr>
        <p:spPr>
          <a:xfrm>
            <a:off x="2514600" y="3429000"/>
            <a:ext cx="365760" cy="228600"/>
          </a:xfrm>
          <a:prstGeom prst="straightConnector1">
            <a:avLst/>
          </a:prstGeom>
          <a:noFill/>
          <a:ln cap="flat" cmpd="sng" w="15875">
            <a:solidFill>
              <a:srgbClr val="8A94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2" name="Google Shape;502;p27"/>
          <p:cNvSpPr/>
          <p:nvPr/>
        </p:nvSpPr>
        <p:spPr>
          <a:xfrm>
            <a:off x="2560320" y="4434840"/>
            <a:ext cx="2377440" cy="548640"/>
          </a:xfrm>
          <a:prstGeom prst="roundRect">
            <a:avLst>
              <a:gd fmla="val 10000" name="adj"/>
            </a:avLst>
          </a:prstGeom>
          <a:solidFill>
            <a:srgbClr val="3FB6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7"/>
          <p:cNvSpPr/>
          <p:nvPr/>
        </p:nvSpPr>
        <p:spPr>
          <a:xfrm>
            <a:off x="2560320" y="44348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"Hi" (text node)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4" name="Google Shape;504;p27"/>
          <p:cNvCxnSpPr/>
          <p:nvPr/>
        </p:nvCxnSpPr>
        <p:spPr>
          <a:xfrm>
            <a:off x="2880360" y="4206240"/>
            <a:ext cx="0" cy="228600"/>
          </a:xfrm>
          <a:prstGeom prst="straightConnector1">
            <a:avLst/>
          </a:prstGeom>
          <a:noFill/>
          <a:ln cap="flat" cmpd="sng" w="15875">
            <a:solidFill>
              <a:srgbClr val="8A94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5" name="Google Shape;505;p27"/>
          <p:cNvSpPr/>
          <p:nvPr/>
        </p:nvSpPr>
        <p:spPr>
          <a:xfrm>
            <a:off x="6035040" y="2194560"/>
            <a:ext cx="5577840" cy="2834640"/>
          </a:xfrm>
          <a:prstGeom prst="roundRect">
            <a:avLst>
              <a:gd fmla="val 258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7"/>
          <p:cNvSpPr/>
          <p:nvPr/>
        </p:nvSpPr>
        <p:spPr>
          <a:xfrm>
            <a:off x="6309360" y="2423160"/>
            <a:ext cx="50292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As each token is received, the tree constructor decides what kind of DOM node to create and where to attach it — using an internal </a:t>
            </a:r>
            <a:r>
              <a:rPr b="1" i="0" lang="en-US" sz="14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“stack” of currently open elements</a:t>
            </a:r>
            <a:r>
              <a:rPr b="0" i="0" lang="en-US" sz="14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, which is exactly what allows it to detect and correct mismatched or missing closing tags.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7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23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8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RESILIENCE BY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8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When HTML Goes Wrong — And How Browsers Fix It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8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Browsers almost never show an “Invalid HTML” error. Instead, they silently repair common mistakes: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8"/>
          <p:cNvSpPr/>
          <p:nvPr/>
        </p:nvSpPr>
        <p:spPr>
          <a:xfrm>
            <a:off x="548640" y="1874520"/>
            <a:ext cx="11064240" cy="475488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8"/>
          <p:cNvSpPr/>
          <p:nvPr/>
        </p:nvSpPr>
        <p:spPr>
          <a:xfrm>
            <a:off x="777240" y="1874520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FC9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B6FC9"/>
                </a:solidFill>
                <a:latin typeface="Courier New"/>
                <a:ea typeface="Courier New"/>
                <a:cs typeface="Courier New"/>
                <a:sym typeface="Courier New"/>
              </a:rPr>
              <a:t>Unclosed tags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8"/>
          <p:cNvSpPr/>
          <p:nvPr/>
        </p:nvSpPr>
        <p:spPr>
          <a:xfrm>
            <a:off x="3931920" y="1874520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A &lt;p&gt; tag that's never closed is auto-closed at the appropriate point (usually when a new block-level element begins)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8"/>
          <p:cNvSpPr/>
          <p:nvPr/>
        </p:nvSpPr>
        <p:spPr>
          <a:xfrm>
            <a:off x="548640" y="2441448"/>
            <a:ext cx="11064240" cy="475488"/>
          </a:xfrm>
          <a:prstGeom prst="roundRect">
            <a:avLst>
              <a:gd fmla="val 11538" name="adj"/>
            </a:avLst>
          </a:prstGeom>
          <a:solidFill>
            <a:srgbClr val="F5F7FA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8"/>
          <p:cNvSpPr/>
          <p:nvPr/>
        </p:nvSpPr>
        <p:spPr>
          <a:xfrm>
            <a:off x="777240" y="2441448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FC9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B6FC9"/>
                </a:solidFill>
                <a:latin typeface="Courier New"/>
                <a:ea typeface="Courier New"/>
                <a:cs typeface="Courier New"/>
                <a:sym typeface="Courier New"/>
              </a:rPr>
              <a:t>&lt;/br&gt; instead of &lt;br&gt;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8"/>
          <p:cNvSpPr/>
          <p:nvPr/>
        </p:nvSpPr>
        <p:spPr>
          <a:xfrm>
            <a:off x="3931920" y="2441448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Some sites mistakenly write a closing tag for what should be self-closing. Browsers just treat it as &lt;br&gt;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8"/>
          <p:cNvSpPr/>
          <p:nvPr/>
        </p:nvSpPr>
        <p:spPr>
          <a:xfrm>
            <a:off x="548640" y="3008376"/>
            <a:ext cx="11064240" cy="475488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8"/>
          <p:cNvSpPr/>
          <p:nvPr/>
        </p:nvSpPr>
        <p:spPr>
          <a:xfrm>
            <a:off x="777240" y="3008376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FC9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B6FC9"/>
                </a:solidFill>
                <a:latin typeface="Courier New"/>
                <a:ea typeface="Courier New"/>
                <a:cs typeface="Courier New"/>
                <a:sym typeface="Courier New"/>
              </a:rPr>
              <a:t>Nested &lt;table&gt; in &lt;table&gt;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8"/>
          <p:cNvSpPr/>
          <p:nvPr/>
        </p:nvSpPr>
        <p:spPr>
          <a:xfrm>
            <a:off x="3931920" y="300837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(not inside a cell) — instead of a broken structure, the browser splits them into two sibling tables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8"/>
          <p:cNvSpPr/>
          <p:nvPr/>
        </p:nvSpPr>
        <p:spPr>
          <a:xfrm>
            <a:off x="548640" y="3575304"/>
            <a:ext cx="11064240" cy="475488"/>
          </a:xfrm>
          <a:prstGeom prst="roundRect">
            <a:avLst>
              <a:gd fmla="val 11538" name="adj"/>
            </a:avLst>
          </a:prstGeom>
          <a:solidFill>
            <a:srgbClr val="F5F7FA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8"/>
          <p:cNvSpPr/>
          <p:nvPr/>
        </p:nvSpPr>
        <p:spPr>
          <a:xfrm>
            <a:off x="777240" y="3575304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FC9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B6FC9"/>
                </a:solidFill>
                <a:latin typeface="Courier New"/>
                <a:ea typeface="Courier New"/>
                <a:cs typeface="Courier New"/>
                <a:sym typeface="Courier New"/>
              </a:rPr>
              <a:t>Nested &lt;form&gt; in &lt;form&gt;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8"/>
          <p:cNvSpPr/>
          <p:nvPr/>
        </p:nvSpPr>
        <p:spPr>
          <a:xfrm>
            <a:off x="3931920" y="3575304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The inner form is simply ignored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8"/>
          <p:cNvSpPr/>
          <p:nvPr/>
        </p:nvSpPr>
        <p:spPr>
          <a:xfrm>
            <a:off x="548640" y="4142232"/>
            <a:ext cx="11064240" cy="475488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8"/>
          <p:cNvSpPr/>
          <p:nvPr/>
        </p:nvSpPr>
        <p:spPr>
          <a:xfrm>
            <a:off x="777240" y="4142232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FC9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B6FC9"/>
                </a:solidFill>
                <a:latin typeface="Courier New"/>
                <a:ea typeface="Courier New"/>
                <a:cs typeface="Courier New"/>
                <a:sym typeface="Courier New"/>
              </a:rPr>
              <a:t>Deeply repeated nested tags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8"/>
          <p:cNvSpPr/>
          <p:nvPr/>
        </p:nvSpPr>
        <p:spPr>
          <a:xfrm>
            <a:off x="3931920" y="4142232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e.g. hundreds of nested &lt;b&gt; tags — browsers cap how many they'll honor before ignoring the rest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8"/>
          <p:cNvSpPr/>
          <p:nvPr/>
        </p:nvSpPr>
        <p:spPr>
          <a:xfrm>
            <a:off x="548640" y="4892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6FC9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1B6FC9"/>
                </a:solidFill>
                <a:latin typeface="Calibri"/>
                <a:ea typeface="Calibri"/>
                <a:cs typeface="Calibri"/>
                <a:sym typeface="Calibri"/>
              </a:rPr>
              <a:t>Key takeaway: </a:t>
            </a:r>
            <a:r>
              <a:rPr b="0" i="1" lang="en-US" sz="12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this error-tolerance behavior isn't accidental — it's a formally specified part of the HTML standard today, precisely because it happens so consistently across real websites.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8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24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9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CSS PARSING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9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Building the CSSOM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9"/>
          <p:cNvSpPr/>
          <p:nvPr/>
        </p:nvSpPr>
        <p:spPr>
          <a:xfrm>
            <a:off x="548640" y="1920240"/>
            <a:ext cx="2081174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9"/>
          <p:cNvSpPr/>
          <p:nvPr/>
        </p:nvSpPr>
        <p:spPr>
          <a:xfrm>
            <a:off x="548640" y="1920240"/>
            <a:ext cx="208117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Byte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9"/>
          <p:cNvSpPr/>
          <p:nvPr/>
        </p:nvSpPr>
        <p:spPr>
          <a:xfrm>
            <a:off x="2629814" y="1901952"/>
            <a:ext cx="1645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9"/>
          <p:cNvSpPr/>
          <p:nvPr/>
        </p:nvSpPr>
        <p:spPr>
          <a:xfrm>
            <a:off x="2794406" y="1920240"/>
            <a:ext cx="2081174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9"/>
          <p:cNvSpPr/>
          <p:nvPr/>
        </p:nvSpPr>
        <p:spPr>
          <a:xfrm>
            <a:off x="2794406" y="1920240"/>
            <a:ext cx="208117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Character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9"/>
          <p:cNvSpPr/>
          <p:nvPr/>
        </p:nvSpPr>
        <p:spPr>
          <a:xfrm>
            <a:off x="4875581" y="1901952"/>
            <a:ext cx="1645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9"/>
          <p:cNvSpPr/>
          <p:nvPr/>
        </p:nvSpPr>
        <p:spPr>
          <a:xfrm>
            <a:off x="5040173" y="1920240"/>
            <a:ext cx="2081174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9"/>
          <p:cNvSpPr/>
          <p:nvPr/>
        </p:nvSpPr>
        <p:spPr>
          <a:xfrm>
            <a:off x="5040173" y="1920240"/>
            <a:ext cx="208117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Token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9"/>
          <p:cNvSpPr/>
          <p:nvPr/>
        </p:nvSpPr>
        <p:spPr>
          <a:xfrm>
            <a:off x="7121347" y="1901952"/>
            <a:ext cx="1645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9"/>
          <p:cNvSpPr/>
          <p:nvPr/>
        </p:nvSpPr>
        <p:spPr>
          <a:xfrm>
            <a:off x="7285939" y="1920240"/>
            <a:ext cx="2081174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9"/>
          <p:cNvSpPr/>
          <p:nvPr/>
        </p:nvSpPr>
        <p:spPr>
          <a:xfrm>
            <a:off x="7285939" y="1920240"/>
            <a:ext cx="208117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Rule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9"/>
          <p:cNvSpPr/>
          <p:nvPr/>
        </p:nvSpPr>
        <p:spPr>
          <a:xfrm>
            <a:off x="9367114" y="1901952"/>
            <a:ext cx="1645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9"/>
          <p:cNvSpPr/>
          <p:nvPr/>
        </p:nvSpPr>
        <p:spPr>
          <a:xfrm>
            <a:off x="9531706" y="1920240"/>
            <a:ext cx="2081174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22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9"/>
          <p:cNvSpPr/>
          <p:nvPr/>
        </p:nvSpPr>
        <p:spPr>
          <a:xfrm>
            <a:off x="9531706" y="1920240"/>
            <a:ext cx="208117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CSSOM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9"/>
          <p:cNvSpPr/>
          <p:nvPr/>
        </p:nvSpPr>
        <p:spPr>
          <a:xfrm>
            <a:off x="548640" y="3246120"/>
            <a:ext cx="1773936" cy="2011680"/>
          </a:xfrm>
          <a:prstGeom prst="roundRect">
            <a:avLst>
              <a:gd fmla="val 3608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9"/>
          <p:cNvSpPr/>
          <p:nvPr/>
        </p:nvSpPr>
        <p:spPr>
          <a:xfrm>
            <a:off x="658368" y="340156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Byte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9"/>
          <p:cNvSpPr/>
          <p:nvPr/>
        </p:nvSpPr>
        <p:spPr>
          <a:xfrm>
            <a:off x="658368" y="3749040"/>
            <a:ext cx="15544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The raw CSS file arrives as raw bytes of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9"/>
          <p:cNvSpPr/>
          <p:nvPr/>
        </p:nvSpPr>
        <p:spPr>
          <a:xfrm>
            <a:off x="2871216" y="3246120"/>
            <a:ext cx="1773936" cy="2011680"/>
          </a:xfrm>
          <a:prstGeom prst="roundRect">
            <a:avLst>
              <a:gd fmla="val 3608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9"/>
          <p:cNvSpPr/>
          <p:nvPr/>
        </p:nvSpPr>
        <p:spPr>
          <a:xfrm>
            <a:off x="2980944" y="340156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Character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9"/>
          <p:cNvSpPr/>
          <p:nvPr/>
        </p:nvSpPr>
        <p:spPr>
          <a:xfrm>
            <a:off x="2980944" y="3749040"/>
            <a:ext cx="15544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Bytes get converted into readable characters based on the file's encoding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9"/>
          <p:cNvSpPr/>
          <p:nvPr/>
        </p:nvSpPr>
        <p:spPr>
          <a:xfrm>
            <a:off x="5193792" y="3246120"/>
            <a:ext cx="1773936" cy="2011680"/>
          </a:xfrm>
          <a:prstGeom prst="roundRect">
            <a:avLst>
              <a:gd fmla="val 3608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9"/>
          <p:cNvSpPr/>
          <p:nvPr/>
        </p:nvSpPr>
        <p:spPr>
          <a:xfrm>
            <a:off x="5303520" y="340156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Token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9"/>
          <p:cNvSpPr/>
          <p:nvPr/>
        </p:nvSpPr>
        <p:spPr>
          <a:xfrm>
            <a:off x="5303520" y="3749040"/>
            <a:ext cx="15544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Characters get grouped into meaningful tokens (selector, property name, value)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9"/>
          <p:cNvSpPr/>
          <p:nvPr/>
        </p:nvSpPr>
        <p:spPr>
          <a:xfrm>
            <a:off x="7516368" y="3246120"/>
            <a:ext cx="1773936" cy="2011680"/>
          </a:xfrm>
          <a:prstGeom prst="roundRect">
            <a:avLst>
              <a:gd fmla="val 3608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9"/>
          <p:cNvSpPr/>
          <p:nvPr/>
        </p:nvSpPr>
        <p:spPr>
          <a:xfrm>
            <a:off x="7626096" y="340156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Rule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9"/>
          <p:cNvSpPr/>
          <p:nvPr/>
        </p:nvSpPr>
        <p:spPr>
          <a:xfrm>
            <a:off x="7626096" y="3749040"/>
            <a:ext cx="15544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Tokens combine into complete CSS rules — a selector plus its declarations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9"/>
          <p:cNvSpPr/>
          <p:nvPr/>
        </p:nvSpPr>
        <p:spPr>
          <a:xfrm>
            <a:off x="9838944" y="3246120"/>
            <a:ext cx="1773936" cy="2011680"/>
          </a:xfrm>
          <a:prstGeom prst="roundRect">
            <a:avLst>
              <a:gd fmla="val 3608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9"/>
          <p:cNvSpPr/>
          <p:nvPr/>
        </p:nvSpPr>
        <p:spPr>
          <a:xfrm>
            <a:off x="9948672" y="340156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CSSOM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9"/>
          <p:cNvSpPr/>
          <p:nvPr/>
        </p:nvSpPr>
        <p:spPr>
          <a:xfrm>
            <a:off x="9948672" y="3749040"/>
            <a:ext cx="15544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All rules together form the CSS Object Model — a tree of every style rule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9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25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CSS PARSING IN DEPTH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0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How the CSS Parser Actually Works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0"/>
          <p:cNvSpPr/>
          <p:nvPr/>
        </p:nvSpPr>
        <p:spPr>
          <a:xfrm>
            <a:off x="548640" y="1691640"/>
            <a:ext cx="356616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0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3DA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0"/>
          <p:cNvSpPr/>
          <p:nvPr/>
        </p:nvSpPr>
        <p:spPr>
          <a:xfrm>
            <a:off x="777240" y="1874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0"/>
          <p:cNvSpPr/>
          <p:nvPr/>
        </p:nvSpPr>
        <p:spPr>
          <a:xfrm>
            <a:off x="777240" y="245059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Lexical Analysis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0"/>
          <p:cNvSpPr/>
          <p:nvPr/>
        </p:nvSpPr>
        <p:spPr>
          <a:xfrm>
            <a:off x="777240" y="283464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Breaking raw CSS text into tokens — class names, IDs, property names, values. Strips out irrelevant whitespace and comments.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0"/>
          <p:cNvSpPr/>
          <p:nvPr/>
        </p:nvSpPr>
        <p:spPr>
          <a:xfrm>
            <a:off x="4297680" y="1691640"/>
            <a:ext cx="356616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0"/>
          <p:cNvSpPr/>
          <p:nvPr/>
        </p:nvSpPr>
        <p:spPr>
          <a:xfrm>
            <a:off x="4526280" y="1874520"/>
            <a:ext cx="502920" cy="502920"/>
          </a:xfrm>
          <a:prstGeom prst="ellipse">
            <a:avLst/>
          </a:prstGeom>
          <a:solidFill>
            <a:srgbClr val="3DA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0"/>
          <p:cNvSpPr/>
          <p:nvPr/>
        </p:nvSpPr>
        <p:spPr>
          <a:xfrm>
            <a:off x="4526280" y="1874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0"/>
          <p:cNvSpPr/>
          <p:nvPr/>
        </p:nvSpPr>
        <p:spPr>
          <a:xfrm>
            <a:off x="4526280" y="245059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Syntactic Analysis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0"/>
          <p:cNvSpPr/>
          <p:nvPr/>
        </p:nvSpPr>
        <p:spPr>
          <a:xfrm>
            <a:off x="4526280" y="283464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Checking tokens against CSS's grammar rules — every rule needs a selector followed by curly braces containing valid declarations.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0"/>
          <p:cNvSpPr/>
          <p:nvPr/>
        </p:nvSpPr>
        <p:spPr>
          <a:xfrm>
            <a:off x="8046720" y="1691640"/>
            <a:ext cx="356616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0"/>
          <p:cNvSpPr/>
          <p:nvPr/>
        </p:nvSpPr>
        <p:spPr>
          <a:xfrm>
            <a:off x="8275320" y="1874520"/>
            <a:ext cx="502920" cy="502920"/>
          </a:xfrm>
          <a:prstGeom prst="ellipse">
            <a:avLst/>
          </a:prstGeom>
          <a:solidFill>
            <a:srgbClr val="3DA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0"/>
          <p:cNvSpPr/>
          <p:nvPr/>
        </p:nvSpPr>
        <p:spPr>
          <a:xfrm>
            <a:off x="8275320" y="1874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0"/>
          <p:cNvSpPr/>
          <p:nvPr/>
        </p:nvSpPr>
        <p:spPr>
          <a:xfrm>
            <a:off x="8275320" y="245059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Semantic Analysis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0"/>
          <p:cNvSpPr/>
          <p:nvPr/>
        </p:nvSpPr>
        <p:spPr>
          <a:xfrm>
            <a:off x="8275320" y="283464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Making sense of what the rules actually mean — e.g. that color: red sets text color, and resolving percentages or relative units.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0"/>
          <p:cNvSpPr/>
          <p:nvPr/>
        </p:nvSpPr>
        <p:spPr>
          <a:xfrm>
            <a:off x="548640" y="4206240"/>
            <a:ext cx="11064240" cy="1234440"/>
          </a:xfrm>
          <a:prstGeom prst="roundRect">
            <a:avLst>
              <a:gd fmla="val 5926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0"/>
          <p:cNvSpPr/>
          <p:nvPr/>
        </p:nvSpPr>
        <p:spPr>
          <a:xfrm>
            <a:off x="914400" y="4370832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Unlike HTML, CSS is a strict, well-defined grammar (a context-free grammar), so it can be parsed with conventional techniques — no error-tolerance logic needed. WebKit still uses </a:t>
            </a:r>
            <a:r>
              <a:rPr b="1" i="0" lang="en-US" sz="1300" u="none" cap="none" strike="noStrike">
                <a:solidFill>
                  <a:srgbClr val="3DA9FC"/>
                </a:solidFill>
                <a:latin typeface="Courier New"/>
                <a:ea typeface="Courier New"/>
                <a:cs typeface="Courier New"/>
                <a:sym typeface="Courier New"/>
              </a:rPr>
              <a:t>Flex</a:t>
            </a:r>
            <a:r>
              <a:rPr b="0" i="0" lang="en-US" sz="13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en-US" sz="1300" u="none" cap="none" strike="noStrike">
                <a:solidFill>
                  <a:srgbClr val="3DA9FC"/>
                </a:solidFill>
                <a:latin typeface="Courier New"/>
                <a:ea typeface="Courier New"/>
                <a:cs typeface="Courier New"/>
                <a:sym typeface="Courier New"/>
              </a:rPr>
              <a:t>Bison</a:t>
            </a:r>
            <a:r>
              <a:rPr b="0" i="0" lang="en-US" sz="130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 to auto-generate its CSS lexer and parser from formal grammar rules.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0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26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MERGING TREES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Combining DOM + CSSOM = Render Tree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1"/>
          <p:cNvSpPr/>
          <p:nvPr/>
        </p:nvSpPr>
        <p:spPr>
          <a:xfrm>
            <a:off x="548640" y="1737360"/>
            <a:ext cx="2377440" cy="1463040"/>
          </a:xfrm>
          <a:prstGeom prst="roundRect">
            <a:avLst>
              <a:gd fmla="val 500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1"/>
          <p:cNvSpPr/>
          <p:nvPr/>
        </p:nvSpPr>
        <p:spPr>
          <a:xfrm>
            <a:off x="548640" y="18745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 Tree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1"/>
          <p:cNvSpPr/>
          <p:nvPr/>
        </p:nvSpPr>
        <p:spPr>
          <a:xfrm>
            <a:off x="548640" y="22402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(structure)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1"/>
          <p:cNvSpPr/>
          <p:nvPr/>
        </p:nvSpPr>
        <p:spPr>
          <a:xfrm>
            <a:off x="3063240" y="210312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1"/>
          <p:cNvSpPr/>
          <p:nvPr/>
        </p:nvSpPr>
        <p:spPr>
          <a:xfrm>
            <a:off x="3749040" y="1737360"/>
            <a:ext cx="2377440" cy="1463040"/>
          </a:xfrm>
          <a:prstGeom prst="roundRect">
            <a:avLst>
              <a:gd fmla="val 500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1"/>
          <p:cNvSpPr/>
          <p:nvPr/>
        </p:nvSpPr>
        <p:spPr>
          <a:xfrm>
            <a:off x="3749040" y="18745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CSSOM Tree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1"/>
          <p:cNvSpPr/>
          <p:nvPr/>
        </p:nvSpPr>
        <p:spPr>
          <a:xfrm>
            <a:off x="3749040" y="22402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(styles)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1"/>
          <p:cNvSpPr/>
          <p:nvPr/>
        </p:nvSpPr>
        <p:spPr>
          <a:xfrm>
            <a:off x="6263640" y="210312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1"/>
          <p:cNvSpPr/>
          <p:nvPr/>
        </p:nvSpPr>
        <p:spPr>
          <a:xfrm>
            <a:off x="6949440" y="1737360"/>
            <a:ext cx="4114800" cy="1463040"/>
          </a:xfrm>
          <a:prstGeom prst="roundRect">
            <a:avLst>
              <a:gd fmla="val 5000" name="adj"/>
            </a:avLst>
          </a:prstGeom>
          <a:solidFill>
            <a:srgbClr val="3DA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1"/>
          <p:cNvSpPr/>
          <p:nvPr/>
        </p:nvSpPr>
        <p:spPr>
          <a:xfrm>
            <a:off x="6949440" y="18745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Render Tree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1"/>
          <p:cNvSpPr/>
          <p:nvPr/>
        </p:nvSpPr>
        <p:spPr>
          <a:xfrm>
            <a:off x="6949440" y="22860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1F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E8F1FE"/>
                </a:solidFill>
                <a:latin typeface="Calibri"/>
                <a:ea typeface="Calibri"/>
                <a:cs typeface="Calibri"/>
                <a:sym typeface="Calibri"/>
              </a:rPr>
              <a:t>visible elements + computed styles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1"/>
          <p:cNvSpPr/>
          <p:nvPr/>
        </p:nvSpPr>
        <p:spPr>
          <a:xfrm>
            <a:off x="548640" y="3520440"/>
            <a:ext cx="5394960" cy="219456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9050">
            <a:solidFill>
              <a:srgbClr val="3FB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1"/>
          <p:cNvSpPr/>
          <p:nvPr/>
        </p:nvSpPr>
        <p:spPr>
          <a:xfrm>
            <a:off x="822960" y="370332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B68B"/>
                </a:solidFill>
                <a:latin typeface="Calibri"/>
                <a:ea typeface="Calibri"/>
                <a:cs typeface="Calibri"/>
                <a:sym typeface="Calibri"/>
              </a:rPr>
              <a:t>✓  WHAT IS INCLUDED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1"/>
          <p:cNvSpPr/>
          <p:nvPr/>
        </p:nvSpPr>
        <p:spPr>
          <a:xfrm>
            <a:off x="822960" y="4069080"/>
            <a:ext cx="4937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Every visible element with actual content or dimensions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B22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Elements with visibility: hidden — invisible but still take up space, so they remain in the render tree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1"/>
          <p:cNvSpPr/>
          <p:nvPr/>
        </p:nvSpPr>
        <p:spPr>
          <a:xfrm>
            <a:off x="6217920" y="3520440"/>
            <a:ext cx="5394960" cy="219456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9050">
            <a:solidFill>
              <a:srgbClr val="E553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1"/>
          <p:cNvSpPr/>
          <p:nvPr/>
        </p:nvSpPr>
        <p:spPr>
          <a:xfrm>
            <a:off x="6492240" y="370332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53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5534B"/>
                </a:solidFill>
                <a:latin typeface="Calibri"/>
                <a:ea typeface="Calibri"/>
                <a:cs typeface="Calibri"/>
                <a:sym typeface="Calibri"/>
              </a:rPr>
              <a:t>✕  WHAT IS NOT INCLUDED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1"/>
          <p:cNvSpPr/>
          <p:nvPr/>
        </p:nvSpPr>
        <p:spPr>
          <a:xfrm>
            <a:off x="6492240" y="4069080"/>
            <a:ext cx="4937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Non-visual elements, like &lt;head&gt; and its contents (&lt;title&gt;, &lt;meta&gt;, etc.)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B222C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Any element with display: none — completely removed, takes up zero space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1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27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LAYOUT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2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Layout — Giving Every Element a Position and Size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2"/>
          <p:cNvSpPr/>
          <p:nvPr/>
        </p:nvSpPr>
        <p:spPr>
          <a:xfrm>
            <a:off x="548640" y="1600200"/>
            <a:ext cx="51206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Top-down calculation — </a:t>
            </a:r>
            <a:r>
              <a:rPr b="0" i="0" lang="en-US" sz="13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layout starts at the top of the page and works down, calculating each element's x/y position and width/height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Parent-first sizing — </a:t>
            </a:r>
            <a:r>
              <a:rPr b="0" i="0" lang="en-US" sz="13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a parent typically figures out its own width first, positions children within that space, then calculates its own height from how much space children took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2"/>
          <p:cNvSpPr/>
          <p:nvPr/>
        </p:nvSpPr>
        <p:spPr>
          <a:xfrm>
            <a:off x="548640" y="3703320"/>
            <a:ext cx="5120640" cy="1965960"/>
          </a:xfrm>
          <a:prstGeom prst="roundRect">
            <a:avLst>
              <a:gd fmla="val 2791" name="adj"/>
            </a:avLst>
          </a:prstGeom>
          <a:solidFill>
            <a:srgbClr val="0D1117"/>
          </a:solidFill>
          <a:ln cap="flat" cmpd="sng" w="12700">
            <a:solidFill>
              <a:srgbClr val="2A3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2"/>
          <p:cNvSpPr/>
          <p:nvPr/>
        </p:nvSpPr>
        <p:spPr>
          <a:xfrm>
            <a:off x="777240" y="3867912"/>
            <a:ext cx="4663440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.box {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width: 300px;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height: 150px;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padding: 20px;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border: 5px solid black;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margin: 10px;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2"/>
          <p:cNvSpPr/>
          <p:nvPr/>
        </p:nvSpPr>
        <p:spPr>
          <a:xfrm>
            <a:off x="6309360" y="1691640"/>
            <a:ext cx="4480560" cy="3931920"/>
          </a:xfrm>
          <a:prstGeom prst="rect">
            <a:avLst/>
          </a:prstGeom>
          <a:solidFill>
            <a:srgbClr val="F5E6D3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2"/>
          <p:cNvSpPr/>
          <p:nvPr/>
        </p:nvSpPr>
        <p:spPr>
          <a:xfrm>
            <a:off x="6400800" y="173736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D3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A6D3B"/>
                </a:solidFill>
                <a:latin typeface="Calibri"/>
                <a:ea typeface="Calibri"/>
                <a:cs typeface="Calibri"/>
                <a:sym typeface="Calibri"/>
              </a:rPr>
              <a:t>margin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2"/>
          <p:cNvSpPr/>
          <p:nvPr/>
        </p:nvSpPr>
        <p:spPr>
          <a:xfrm>
            <a:off x="6766560" y="2057400"/>
            <a:ext cx="3566160" cy="3200400"/>
          </a:xfrm>
          <a:prstGeom prst="rect">
            <a:avLst/>
          </a:prstGeom>
          <a:solidFill>
            <a:srgbClr val="D9B98A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2"/>
          <p:cNvSpPr/>
          <p:nvPr/>
        </p:nvSpPr>
        <p:spPr>
          <a:xfrm>
            <a:off x="6858000" y="21031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52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C4522"/>
                </a:solidFill>
                <a:latin typeface="Calibri"/>
                <a:ea typeface="Calibri"/>
                <a:cs typeface="Calibri"/>
                <a:sym typeface="Calibri"/>
              </a:rPr>
              <a:t>border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2"/>
          <p:cNvSpPr/>
          <p:nvPr/>
        </p:nvSpPr>
        <p:spPr>
          <a:xfrm>
            <a:off x="7178040" y="2423160"/>
            <a:ext cx="2743200" cy="2468880"/>
          </a:xfrm>
          <a:prstGeom prst="rect">
            <a:avLst/>
          </a:prstGeom>
          <a:solidFill>
            <a:srgbClr val="BFE3D0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2"/>
          <p:cNvSpPr/>
          <p:nvPr/>
        </p:nvSpPr>
        <p:spPr>
          <a:xfrm>
            <a:off x="7269480" y="24688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C5F2D"/>
                </a:solidFill>
                <a:latin typeface="Calibri"/>
                <a:ea typeface="Calibri"/>
                <a:cs typeface="Calibri"/>
                <a:sym typeface="Calibri"/>
              </a:rPr>
              <a:t>padding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2"/>
          <p:cNvSpPr/>
          <p:nvPr/>
        </p:nvSpPr>
        <p:spPr>
          <a:xfrm>
            <a:off x="7589520" y="2788920"/>
            <a:ext cx="1920240" cy="1737360"/>
          </a:xfrm>
          <a:prstGeom prst="rect">
            <a:avLst/>
          </a:prstGeom>
          <a:solidFill>
            <a:srgbClr val="3DA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2"/>
          <p:cNvSpPr/>
          <p:nvPr/>
        </p:nvSpPr>
        <p:spPr>
          <a:xfrm>
            <a:off x="7589520" y="2788920"/>
            <a:ext cx="19202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300 × 150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2"/>
          <p:cNvSpPr/>
          <p:nvPr/>
        </p:nvSpPr>
        <p:spPr>
          <a:xfrm>
            <a:off x="6309360" y="571500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Layout has to account for all four layers — content, padding, border, margin — to determine an element's true final size and position, not just width/height alone.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2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28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3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PAINT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3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Painting — Filling In the Pixels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3"/>
          <p:cNvSpPr/>
          <p:nvPr/>
        </p:nvSpPr>
        <p:spPr>
          <a:xfrm>
            <a:off x="548640" y="1554480"/>
            <a:ext cx="11064240" cy="685800"/>
          </a:xfrm>
          <a:prstGeom prst="roundRect">
            <a:avLst>
              <a:gd fmla="val 1066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3"/>
          <p:cNvSpPr/>
          <p:nvPr/>
        </p:nvSpPr>
        <p:spPr>
          <a:xfrm>
            <a:off x="914400" y="1554480"/>
            <a:ext cx="10332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paint order is NOT the same as the DOM order.</a:t>
            </a:r>
            <a:r>
              <a:rPr b="0" i="0" lang="en-US" sz="135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 CSS defines a strict painting order for every box, back to front.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3"/>
          <p:cNvSpPr/>
          <p:nvPr/>
        </p:nvSpPr>
        <p:spPr>
          <a:xfrm>
            <a:off x="548640" y="2514600"/>
            <a:ext cx="2103120" cy="868680"/>
          </a:xfrm>
          <a:prstGeom prst="roundRect">
            <a:avLst>
              <a:gd fmla="val 7368" name="adj"/>
            </a:avLst>
          </a:prstGeom>
          <a:solidFill>
            <a:srgbClr val="3DA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3"/>
          <p:cNvSpPr/>
          <p:nvPr/>
        </p:nvSpPr>
        <p:spPr>
          <a:xfrm>
            <a:off x="621792" y="25603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FE6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3"/>
          <p:cNvSpPr/>
          <p:nvPr/>
        </p:nvSpPr>
        <p:spPr>
          <a:xfrm>
            <a:off x="548640" y="269748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3"/>
          <p:cNvSpPr/>
          <p:nvPr/>
        </p:nvSpPr>
        <p:spPr>
          <a:xfrm>
            <a:off x="2651760" y="2606040"/>
            <a:ext cx="137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3"/>
          <p:cNvSpPr/>
          <p:nvPr/>
        </p:nvSpPr>
        <p:spPr>
          <a:xfrm>
            <a:off x="2788920" y="2514600"/>
            <a:ext cx="2103120" cy="868680"/>
          </a:xfrm>
          <a:prstGeom prst="roundRect">
            <a:avLst>
              <a:gd fmla="val 7368" name="adj"/>
            </a:avLst>
          </a:prstGeom>
          <a:solidFill>
            <a:srgbClr val="3DA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3"/>
          <p:cNvSpPr/>
          <p:nvPr/>
        </p:nvSpPr>
        <p:spPr>
          <a:xfrm>
            <a:off x="2862072" y="25603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FE6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3"/>
          <p:cNvSpPr/>
          <p:nvPr/>
        </p:nvSpPr>
        <p:spPr>
          <a:xfrm>
            <a:off x="2788920" y="269748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3"/>
          <p:cNvSpPr/>
          <p:nvPr/>
        </p:nvSpPr>
        <p:spPr>
          <a:xfrm>
            <a:off x="4892040" y="2606040"/>
            <a:ext cx="137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3"/>
          <p:cNvSpPr/>
          <p:nvPr/>
        </p:nvSpPr>
        <p:spPr>
          <a:xfrm>
            <a:off x="5029200" y="2514600"/>
            <a:ext cx="2103120" cy="868680"/>
          </a:xfrm>
          <a:prstGeom prst="roundRect">
            <a:avLst>
              <a:gd fmla="val 7368" name="adj"/>
            </a:avLst>
          </a:prstGeom>
          <a:solidFill>
            <a:srgbClr val="3DA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3"/>
          <p:cNvSpPr/>
          <p:nvPr/>
        </p:nvSpPr>
        <p:spPr>
          <a:xfrm>
            <a:off x="5102352" y="25603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FE6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3"/>
          <p:cNvSpPr/>
          <p:nvPr/>
        </p:nvSpPr>
        <p:spPr>
          <a:xfrm>
            <a:off x="5029200" y="269748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Border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3"/>
          <p:cNvSpPr/>
          <p:nvPr/>
        </p:nvSpPr>
        <p:spPr>
          <a:xfrm>
            <a:off x="7132320" y="2606040"/>
            <a:ext cx="137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3"/>
          <p:cNvSpPr/>
          <p:nvPr/>
        </p:nvSpPr>
        <p:spPr>
          <a:xfrm>
            <a:off x="7269480" y="2514600"/>
            <a:ext cx="2103120" cy="868680"/>
          </a:xfrm>
          <a:prstGeom prst="roundRect">
            <a:avLst>
              <a:gd fmla="val 7368" name="adj"/>
            </a:avLst>
          </a:prstGeom>
          <a:solidFill>
            <a:srgbClr val="3DA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3"/>
          <p:cNvSpPr/>
          <p:nvPr/>
        </p:nvSpPr>
        <p:spPr>
          <a:xfrm>
            <a:off x="7342632" y="25603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FE6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3"/>
          <p:cNvSpPr/>
          <p:nvPr/>
        </p:nvSpPr>
        <p:spPr>
          <a:xfrm>
            <a:off x="7269480" y="269748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Children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(recursive)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3"/>
          <p:cNvSpPr/>
          <p:nvPr/>
        </p:nvSpPr>
        <p:spPr>
          <a:xfrm>
            <a:off x="9372600" y="2606040"/>
            <a:ext cx="137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3"/>
          <p:cNvSpPr/>
          <p:nvPr/>
        </p:nvSpPr>
        <p:spPr>
          <a:xfrm>
            <a:off x="9509760" y="2514600"/>
            <a:ext cx="2103120" cy="868680"/>
          </a:xfrm>
          <a:prstGeom prst="roundRect">
            <a:avLst>
              <a:gd fmla="val 7368" name="adj"/>
            </a:avLst>
          </a:prstGeom>
          <a:solidFill>
            <a:srgbClr val="3DA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3"/>
          <p:cNvSpPr/>
          <p:nvPr/>
        </p:nvSpPr>
        <p:spPr>
          <a:xfrm>
            <a:off x="9582912" y="25603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FE6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3"/>
          <p:cNvSpPr/>
          <p:nvPr/>
        </p:nvSpPr>
        <p:spPr>
          <a:xfrm>
            <a:off x="9509760" y="269748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3"/>
          <p:cNvSpPr/>
          <p:nvPr/>
        </p:nvSpPr>
        <p:spPr>
          <a:xfrm>
            <a:off x="548640" y="3703320"/>
            <a:ext cx="5120640" cy="1920240"/>
          </a:xfrm>
          <a:prstGeom prst="roundRect">
            <a:avLst>
              <a:gd fmla="val 2857" name="adj"/>
            </a:avLst>
          </a:prstGeom>
          <a:solidFill>
            <a:srgbClr val="0D1117"/>
          </a:solidFill>
          <a:ln cap="flat" cmpd="sng" w="12700">
            <a:solidFill>
              <a:srgbClr val="2A3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3"/>
          <p:cNvSpPr/>
          <p:nvPr/>
        </p:nvSpPr>
        <p:spPr>
          <a:xfrm>
            <a:off x="777240" y="3867912"/>
            <a:ext cx="4663440" cy="1591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.card {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background-color: lightblue;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border: 3px solid navy;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outline: 2px dashed red;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3"/>
          <p:cNvSpPr/>
          <p:nvPr/>
        </p:nvSpPr>
        <p:spPr>
          <a:xfrm>
            <a:off x="5943600" y="3703320"/>
            <a:ext cx="5669280" cy="19202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222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3"/>
          <p:cNvSpPr/>
          <p:nvPr/>
        </p:nvSpPr>
        <p:spPr>
          <a:xfrm>
            <a:off x="6172200" y="3886200"/>
            <a:ext cx="52120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Even though </a:t>
            </a:r>
            <a:r>
              <a:rPr b="0" i="0" lang="en-US" sz="1200" u="none" cap="none" strike="noStrike">
                <a:solidFill>
                  <a:srgbClr val="1B6FC9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b="0" i="0" lang="en-US" sz="12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200" u="none" cap="none" strike="noStrike">
                <a:solidFill>
                  <a:srgbClr val="1B6FC9"/>
                </a:solidFill>
                <a:latin typeface="Courier New"/>
                <a:ea typeface="Courier New"/>
                <a:cs typeface="Courier New"/>
                <a:sym typeface="Courier New"/>
              </a:rPr>
              <a:t>border</a:t>
            </a:r>
            <a:r>
              <a:rPr b="0" i="0" lang="en-US" sz="12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b="0" i="0" lang="en-US" sz="1200" u="none" cap="none" strike="noStrike">
                <a:solidFill>
                  <a:srgbClr val="1B6FC9"/>
                </a:solidFill>
                <a:latin typeface="Courier New"/>
                <a:ea typeface="Courier New"/>
                <a:cs typeface="Courier New"/>
                <a:sym typeface="Courier New"/>
              </a:rPr>
              <a:t>outline</a:t>
            </a:r>
            <a:r>
              <a:rPr b="0" i="0" lang="en-US" sz="12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 are all declared in one rule, the browser always paints background first, then border, then children, and outline last — regardless of how the CSS was written.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3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29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COMPOSITE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4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22C"/>
                </a:solidFill>
                <a:latin typeface="Cambria"/>
                <a:ea typeface="Cambria"/>
                <a:cs typeface="Cambria"/>
                <a:sym typeface="Cambria"/>
              </a:rPr>
              <a:t>Composite — Why Some Animations Never Drop a Frame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4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Compositing</a:t>
            </a:r>
            <a:r>
              <a:rPr b="0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 is the final stage: independently-painted layers are handed off to the </a:t>
            </a:r>
            <a:r>
              <a:rPr b="1" i="0" lang="en-US" sz="1300" u="none" cap="none" strike="noStrike">
                <a:solidFill>
                  <a:srgbClr val="1B6FC9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b="0" i="0" lang="en-US" sz="130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, which assembles them into the final image on screen. Certain CSS properties can be animated using only the compositing step — skipping layout and paint entirely.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4"/>
          <p:cNvSpPr/>
          <p:nvPr/>
        </p:nvSpPr>
        <p:spPr>
          <a:xfrm>
            <a:off x="548640" y="2240280"/>
            <a:ext cx="10149840" cy="347472"/>
          </a:xfrm>
          <a:prstGeom prst="rect">
            <a:avLst/>
          </a:prstGeom>
          <a:solidFill>
            <a:srgbClr val="1B2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4"/>
          <p:cNvSpPr/>
          <p:nvPr/>
        </p:nvSpPr>
        <p:spPr>
          <a:xfrm>
            <a:off x="640080" y="2240280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CSS Property Changed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4"/>
          <p:cNvSpPr/>
          <p:nvPr/>
        </p:nvSpPr>
        <p:spPr>
          <a:xfrm>
            <a:off x="4389120" y="224028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the Browser Must Redo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4"/>
          <p:cNvSpPr/>
          <p:nvPr/>
        </p:nvSpPr>
        <p:spPr>
          <a:xfrm>
            <a:off x="8595360" y="224028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4"/>
          <p:cNvSpPr/>
          <p:nvPr/>
        </p:nvSpPr>
        <p:spPr>
          <a:xfrm>
            <a:off x="548640" y="2587752"/>
            <a:ext cx="1014984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4"/>
          <p:cNvSpPr/>
          <p:nvPr/>
        </p:nvSpPr>
        <p:spPr>
          <a:xfrm>
            <a:off x="640080" y="2587752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ourier New"/>
                <a:ea typeface="Courier New"/>
                <a:cs typeface="Courier New"/>
                <a:sym typeface="Courier New"/>
              </a:rPr>
              <a:t>width, height, top, left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4"/>
          <p:cNvSpPr/>
          <p:nvPr/>
        </p:nvSpPr>
        <p:spPr>
          <a:xfrm>
            <a:off x="4389120" y="2587752"/>
            <a:ext cx="4023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Layout → Paint → Composite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4"/>
          <p:cNvSpPr/>
          <p:nvPr/>
        </p:nvSpPr>
        <p:spPr>
          <a:xfrm>
            <a:off x="8595360" y="2587752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53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5534B"/>
                </a:solidFill>
                <a:latin typeface="Calibri"/>
                <a:ea typeface="Calibri"/>
                <a:cs typeface="Calibri"/>
                <a:sym typeface="Calibri"/>
              </a:rPr>
              <a:t>Expensive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4"/>
          <p:cNvSpPr/>
          <p:nvPr/>
        </p:nvSpPr>
        <p:spPr>
          <a:xfrm>
            <a:off x="548640" y="3008376"/>
            <a:ext cx="10149840" cy="420624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34"/>
          <p:cNvSpPr/>
          <p:nvPr/>
        </p:nvSpPr>
        <p:spPr>
          <a:xfrm>
            <a:off x="640080" y="3008376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ourier New"/>
                <a:ea typeface="Courier New"/>
                <a:cs typeface="Courier New"/>
                <a:sym typeface="Courier New"/>
              </a:rPr>
              <a:t>background-color, box-shadow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4"/>
          <p:cNvSpPr/>
          <p:nvPr/>
        </p:nvSpPr>
        <p:spPr>
          <a:xfrm>
            <a:off x="4389120" y="3008376"/>
            <a:ext cx="4023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Paint → Composite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4"/>
          <p:cNvSpPr/>
          <p:nvPr/>
        </p:nvSpPr>
        <p:spPr>
          <a:xfrm>
            <a:off x="8595360" y="3008376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4"/>
          <p:cNvSpPr/>
          <p:nvPr/>
        </p:nvSpPr>
        <p:spPr>
          <a:xfrm>
            <a:off x="548640" y="3429000"/>
            <a:ext cx="1014984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4"/>
          <p:cNvSpPr/>
          <p:nvPr/>
        </p:nvSpPr>
        <p:spPr>
          <a:xfrm>
            <a:off x="640080" y="3429000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ourier New"/>
                <a:ea typeface="Courier New"/>
                <a:cs typeface="Courier New"/>
                <a:sym typeface="Courier New"/>
              </a:rPr>
              <a:t>transform, opacity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4"/>
          <p:cNvSpPr/>
          <p:nvPr/>
        </p:nvSpPr>
        <p:spPr>
          <a:xfrm>
            <a:off x="4389120" y="3429000"/>
            <a:ext cx="4023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22C"/>
                </a:solidFill>
                <a:latin typeface="Calibri"/>
                <a:ea typeface="Calibri"/>
                <a:cs typeface="Calibri"/>
                <a:sym typeface="Calibri"/>
              </a:rPr>
              <a:t>Composite only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4"/>
          <p:cNvSpPr/>
          <p:nvPr/>
        </p:nvSpPr>
        <p:spPr>
          <a:xfrm>
            <a:off x="8595360" y="3429000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B68B"/>
                </a:solidFill>
                <a:latin typeface="Calibri"/>
                <a:ea typeface="Calibri"/>
                <a:cs typeface="Calibri"/>
                <a:sym typeface="Calibri"/>
              </a:rPr>
              <a:t>Cheap (GPU)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4"/>
          <p:cNvSpPr/>
          <p:nvPr/>
        </p:nvSpPr>
        <p:spPr>
          <a:xfrm>
            <a:off x="548640" y="4343400"/>
            <a:ext cx="5394960" cy="1920240"/>
          </a:xfrm>
          <a:prstGeom prst="roundRect">
            <a:avLst>
              <a:gd fmla="val 2857" name="adj"/>
            </a:avLst>
          </a:prstGeom>
          <a:solidFill>
            <a:srgbClr val="0D1117"/>
          </a:solidFill>
          <a:ln cap="flat" cmpd="sng" w="12700">
            <a:solidFill>
              <a:srgbClr val="2A3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4"/>
          <p:cNvSpPr/>
          <p:nvPr/>
        </p:nvSpPr>
        <p:spPr>
          <a:xfrm>
            <a:off x="777240" y="4507992"/>
            <a:ext cx="4937760" cy="1591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/* Smooth, GPU-accelerated */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.smooth-box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transition: transform 0.3s ease;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.smooth-box:hover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 transform: scale(1.1);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4"/>
          <p:cNvSpPr/>
          <p:nvPr/>
        </p:nvSpPr>
        <p:spPr>
          <a:xfrm>
            <a:off x="6126480" y="4343400"/>
            <a:ext cx="5394960" cy="1920240"/>
          </a:xfrm>
          <a:prstGeom prst="roundRect">
            <a:avLst>
              <a:gd fmla="val 2857" name="adj"/>
            </a:avLst>
          </a:prstGeom>
          <a:solidFill>
            <a:srgbClr val="0D1117"/>
          </a:solidFill>
          <a:ln cap="flat" cmpd="sng" w="12700">
            <a:solidFill>
              <a:srgbClr val="2A3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34"/>
          <p:cNvSpPr/>
          <p:nvPr/>
        </p:nvSpPr>
        <p:spPr>
          <a:xfrm>
            <a:off x="6355080" y="4507992"/>
            <a:ext cx="4937760" cy="1591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4A9A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4A9A0"/>
                </a:solidFill>
                <a:latin typeface="Courier New"/>
                <a:ea typeface="Courier New"/>
                <a:cs typeface="Courier New"/>
                <a:sym typeface="Courier New"/>
              </a:rPr>
              <a:t>/* Expensive — full layout each frame */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4A9A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4A9A0"/>
                </a:solidFill>
                <a:latin typeface="Courier New"/>
                <a:ea typeface="Courier New"/>
                <a:cs typeface="Courier New"/>
                <a:sym typeface="Courier New"/>
              </a:rPr>
              <a:t>.expensive-box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4A9A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4A9A0"/>
                </a:solidFill>
                <a:latin typeface="Courier New"/>
                <a:ea typeface="Courier New"/>
                <a:cs typeface="Courier New"/>
                <a:sym typeface="Courier New"/>
              </a:rPr>
              <a:t>  transition: width 0.3s ease;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4A9A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4A9A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4A9A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4A9A0"/>
                </a:solidFill>
                <a:latin typeface="Courier New"/>
                <a:ea typeface="Courier New"/>
                <a:cs typeface="Courier New"/>
                <a:sym typeface="Courier New"/>
              </a:rPr>
              <a:t>.expensive-box:hover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4A9A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4A9A0"/>
                </a:solidFill>
                <a:latin typeface="Courier New"/>
                <a:ea typeface="Courier New"/>
                <a:cs typeface="Courier New"/>
                <a:sym typeface="Courier New"/>
              </a:rPr>
              <a:t>  width: 220px;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4A9A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4A9A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4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572"/>
                </a:solidFill>
                <a:latin typeface="Calibri"/>
                <a:ea typeface="Calibri"/>
                <a:cs typeface="Calibri"/>
                <a:sym typeface="Calibri"/>
              </a:rPr>
              <a:t>30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5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CLOSING EXAMPLE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5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 Common Mistake — Layout Thrashing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5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It happens when JavaScript repeatedly </a:t>
            </a:r>
            <a:r>
              <a:rPr b="1" i="0" lang="en-US" sz="135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reads</a:t>
            </a:r>
            <a:r>
              <a:rPr b="0" i="0" lang="en-US" sz="13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 a layout-dependent value (like </a:t>
            </a:r>
            <a:r>
              <a:rPr b="0" i="0" lang="en-US" sz="1350" u="none" cap="none" strike="noStrike">
                <a:solidFill>
                  <a:srgbClr val="3DA9FC"/>
                </a:solidFill>
                <a:latin typeface="Courier New"/>
                <a:ea typeface="Courier New"/>
                <a:cs typeface="Courier New"/>
                <a:sym typeface="Courier New"/>
              </a:rPr>
              <a:t>element.offsetHeight</a:t>
            </a:r>
            <a:r>
              <a:rPr b="0" i="0" lang="en-US" sz="13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) and then </a:t>
            </a:r>
            <a:r>
              <a:rPr b="1" i="0" lang="en-US" sz="135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writes</a:t>
            </a:r>
            <a:r>
              <a:rPr b="0" i="0" lang="en-US" sz="13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 a style change, back and forth in a loop — forcing synchronous layout recalculation, over and over.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5"/>
          <p:cNvSpPr/>
          <p:nvPr/>
        </p:nvSpPr>
        <p:spPr>
          <a:xfrm>
            <a:off x="548640" y="2331720"/>
            <a:ext cx="5943600" cy="1965960"/>
          </a:xfrm>
          <a:prstGeom prst="roundRect">
            <a:avLst>
              <a:gd fmla="val 2791" name="adj"/>
            </a:avLst>
          </a:prstGeom>
          <a:solidFill>
            <a:srgbClr val="0D1117"/>
          </a:solidFill>
          <a:ln cap="flat" cmpd="sng" w="12700">
            <a:solidFill>
              <a:srgbClr val="2A3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5"/>
          <p:cNvSpPr/>
          <p:nvPr/>
        </p:nvSpPr>
        <p:spPr>
          <a:xfrm>
            <a:off x="777240" y="2496312"/>
            <a:ext cx="5486400" cy="163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4A9A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4A9A0"/>
                </a:solidFill>
                <a:latin typeface="Courier New"/>
                <a:ea typeface="Courier New"/>
                <a:cs typeface="Courier New"/>
                <a:sym typeface="Courier New"/>
              </a:rPr>
              <a:t>// BAD - causes layout thrashing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4A9A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4A9A0"/>
                </a:solidFill>
                <a:latin typeface="Courier New"/>
                <a:ea typeface="Courier New"/>
                <a:cs typeface="Courier New"/>
                <a:sym typeface="Courier New"/>
              </a:rPr>
              <a:t>for (let i = 0; i &lt; boxes.length; i++)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4A9A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4A9A0"/>
                </a:solidFill>
                <a:latin typeface="Courier New"/>
                <a:ea typeface="Courier New"/>
                <a:cs typeface="Courier New"/>
                <a:sym typeface="Courier New"/>
              </a:rPr>
              <a:t>  boxes[i].style.width = boxes[i].offsetWidth + 10 + "px";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4A9A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4A9A0"/>
                </a:solidFill>
                <a:latin typeface="Courier New"/>
                <a:ea typeface="Courier New"/>
                <a:cs typeface="Courier New"/>
                <a:sym typeface="Courier New"/>
              </a:rPr>
              <a:t>  // reading offsetWidth forces layout to run NOW,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4A9A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4A9A0"/>
                </a:solidFill>
                <a:latin typeface="Courier New"/>
                <a:ea typeface="Courier New"/>
                <a:cs typeface="Courier New"/>
                <a:sym typeface="Courier New"/>
              </a:rPr>
              <a:t>  // writing .style.width immediately marks it dirty again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4A9A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4A9A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5"/>
          <p:cNvSpPr/>
          <p:nvPr/>
        </p:nvSpPr>
        <p:spPr>
          <a:xfrm>
            <a:off x="6766560" y="2377440"/>
            <a:ext cx="48463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1. Prior write — </a:t>
            </a:r>
            <a:r>
              <a:rPr b="0" i="0" lang="en-US" sz="11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marks the element “dirty” (needs layout)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2. Reading offsetWidth — </a:t>
            </a:r>
            <a:r>
              <a:rPr b="0" i="0" lang="en-US" sz="11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forces layout to run synchronously, right now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DF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3. Repeats every iteration — </a:t>
            </a:r>
            <a:r>
              <a:rPr b="0" i="0" lang="en-US" sz="11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turning one layout pass into dozens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5"/>
          <p:cNvSpPr/>
          <p:nvPr/>
        </p:nvSpPr>
        <p:spPr>
          <a:xfrm>
            <a:off x="548640" y="4526280"/>
            <a:ext cx="11064240" cy="502920"/>
          </a:xfrm>
          <a:prstGeom prst="roundRect">
            <a:avLst>
              <a:gd fmla="val 10909" name="adj"/>
            </a:avLst>
          </a:prstGeom>
          <a:solidFill>
            <a:srgbClr val="1C25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5"/>
          <p:cNvSpPr/>
          <p:nvPr/>
        </p:nvSpPr>
        <p:spPr>
          <a:xfrm>
            <a:off x="822960" y="452628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8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FB68B"/>
                </a:solidFill>
                <a:latin typeface="Calibri"/>
                <a:ea typeface="Calibri"/>
                <a:cs typeface="Calibri"/>
                <a:sym typeface="Calibri"/>
              </a:rPr>
              <a:t>The fix: </a:t>
            </a:r>
            <a:r>
              <a:rPr b="0" i="0" lang="en-US" sz="1250" u="none" cap="none" strike="noStrike">
                <a:solidFill>
                  <a:srgbClr val="E8EDF3"/>
                </a:solidFill>
                <a:latin typeface="Calibri"/>
                <a:ea typeface="Calibri"/>
                <a:cs typeface="Calibri"/>
                <a:sym typeface="Calibri"/>
              </a:rPr>
              <a:t>batch all reads first, then all writes — so layout only runs once.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5"/>
          <p:cNvSpPr/>
          <p:nvPr/>
        </p:nvSpPr>
        <p:spPr>
          <a:xfrm>
            <a:off x="1097280" y="5257800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3DA9FC"/>
                </a:solidFill>
                <a:latin typeface="Calibri"/>
                <a:ea typeface="Calibri"/>
                <a:cs typeface="Calibri"/>
                <a:sym typeface="Calibri"/>
              </a:rPr>
              <a:t>“This is a perfect real-world example of why understanding the rendering pipeline — parsing, layout, painting, and compositing — actually helps you write faster, smoother websites.”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5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4A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94A3"/>
                </a:solidFill>
                <a:latin typeface="Calibri"/>
                <a:ea typeface="Calibri"/>
                <a:cs typeface="Calibri"/>
                <a:sym typeface="Calibri"/>
              </a:rPr>
              <a:t>31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6"/>
          <p:cNvSpPr txBox="1"/>
          <p:nvPr/>
        </p:nvSpPr>
        <p:spPr>
          <a:xfrm>
            <a:off x="4489700" y="2806075"/>
            <a:ext cx="3064200" cy="1139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>
                <a:solidFill>
                  <a:schemeClr val="lt1"/>
                </a:solidFill>
              </a:rPr>
              <a:t>DANKE</a:t>
            </a:r>
            <a:endParaRPr sz="6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